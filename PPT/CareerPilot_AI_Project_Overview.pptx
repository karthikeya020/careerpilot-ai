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800" cy="685800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685800"/>
            <a:ext cx="5486400" cy="320040"/>
          </a:xfrm>
          <a:prstGeom prst="rect">
            <a:avLst/>
          </a:prstGeom>
          <a:noFill/>
        </p:spPr>
        <p:txBody>
          <a:bodyPr wrap="square" anchor="t" lIns="0" rIns="0" tIns="0" bIns="0">
            <a:spAutoFit/>
          </a:bodyPr>
          <a:lstStyle/>
          <a:p>
            <a:pPr algn="l">
              <a:lnSpc>
                <a:spcPct val="100000"/>
              </a:lnSpc>
              <a:spcAft>
                <a:spcPts val="0"/>
              </a:spcAft>
            </a:pPr>
            <a:r>
              <a:rPr sz="1100" b="1" i="0" spc="200">
                <a:solidFill>
                  <a:srgbClr val="5B3DF6"/>
                </a:solidFill>
                <a:latin typeface="Segoe UI"/>
              </a:rPr>
              <a:t>CAREERPILOT AI</a:t>
            </a:r>
          </a:p>
        </p:txBody>
      </p:sp>
      <p:cxnSp>
        <p:nvCxnSpPr>
          <p:cNvPr id="5" name="Connector 4"/>
          <p:cNvCxnSpPr/>
          <p:nvPr/>
        </p:nvCxnSpPr>
        <p:spPr>
          <a:xfrm>
            <a:off x="960120" y="1078992"/>
            <a:ext cx="1051560" cy="0"/>
          </a:xfrm>
          <a:prstGeom prst="line">
            <a:avLst/>
          </a:prstGeom>
          <a:ln w="1587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60120" y="2011680"/>
            <a:ext cx="10698480" cy="914400"/>
          </a:xfrm>
          <a:prstGeom prst="rect">
            <a:avLst/>
          </a:prstGeom>
          <a:noFill/>
        </p:spPr>
        <p:txBody>
          <a:bodyPr wrap="square" anchor="t" lIns="0" rIns="0" tIns="0" bIns="0">
            <a:spAutoFit/>
          </a:bodyPr>
          <a:lstStyle/>
          <a:p>
            <a:pPr algn="l">
              <a:lnSpc>
                <a:spcPct val="105000"/>
              </a:lnSpc>
              <a:spcAft>
                <a:spcPts val="0"/>
              </a:spcAft>
            </a:pPr>
            <a:r>
              <a:rPr sz="5400" b="0" i="0">
                <a:solidFill>
                  <a:srgbClr val="14121F"/>
                </a:solidFill>
                <a:latin typeface="Georgia"/>
              </a:rPr>
              <a:t>The AI career operating</a:t>
            </a:r>
          </a:p>
        </p:txBody>
      </p:sp>
      <p:sp>
        <p:nvSpPr>
          <p:cNvPr id="7" name="TextBox 6"/>
          <p:cNvSpPr txBox="1"/>
          <p:nvPr/>
        </p:nvSpPr>
        <p:spPr>
          <a:xfrm>
            <a:off x="960120" y="2971800"/>
            <a:ext cx="10058400" cy="914400"/>
          </a:xfrm>
          <a:prstGeom prst="rect">
            <a:avLst/>
          </a:prstGeom>
          <a:noFill/>
        </p:spPr>
        <p:txBody>
          <a:bodyPr wrap="square" anchor="t" lIns="0" rIns="0" tIns="0" bIns="0">
            <a:spAutoFit/>
          </a:bodyPr>
          <a:lstStyle/>
          <a:p>
            <a:pPr algn="l">
              <a:lnSpc>
                <a:spcPct val="105000"/>
              </a:lnSpc>
              <a:spcAft>
                <a:spcPts val="0"/>
              </a:spcAft>
            </a:pPr>
            <a:r>
              <a:rPr sz="5400" b="0" i="0">
                <a:solidFill>
                  <a:srgbClr val="14121F"/>
                </a:solidFill>
                <a:latin typeface="Georgia"/>
              </a:rPr>
              <a:t>system that </a:t>
            </a:r>
            <a:r>
              <a:rPr sz="5400" b="0" i="1">
                <a:solidFill>
                  <a:srgbClr val="5B3DF6"/>
                </a:solidFill>
                <a:latin typeface="Georgia"/>
              </a:rPr>
              <a:t>shows its work.</a:t>
            </a:r>
          </a:p>
        </p:txBody>
      </p:sp>
      <p:sp>
        <p:nvSpPr>
          <p:cNvPr id="8" name="TextBox 7"/>
          <p:cNvSpPr txBox="1"/>
          <p:nvPr/>
        </p:nvSpPr>
        <p:spPr>
          <a:xfrm>
            <a:off x="960120" y="4206240"/>
            <a:ext cx="7863840" cy="914400"/>
          </a:xfrm>
          <a:prstGeom prst="rect">
            <a:avLst/>
          </a:prstGeom>
          <a:noFill/>
        </p:spPr>
        <p:txBody>
          <a:bodyPr wrap="square" anchor="t" lIns="0" rIns="0" tIns="0" bIns="0">
            <a:spAutoFit/>
          </a:bodyPr>
          <a:lstStyle/>
          <a:p>
            <a:pPr algn="l">
              <a:lnSpc>
                <a:spcPct val="145000"/>
              </a:lnSpc>
              <a:spcAft>
                <a:spcPts val="0"/>
              </a:spcAft>
            </a:pPr>
            <a:r>
              <a:rPr sz="1450" b="0" i="0">
                <a:solidFill>
                  <a:srgbClr val="666280"/>
                </a:solidFill>
                <a:latin typeface="Segoe UI"/>
              </a:rPr>
              <a:t>An evidence-grounded, confidence-aware agentic system that builds a persistent Career Twin for every student, diagnoses root causes, and closes the loop from weakness to mastery.</a:t>
            </a:r>
          </a:p>
        </p:txBody>
      </p:sp>
      <p:cxnSp>
        <p:nvCxnSpPr>
          <p:cNvPr id="9" name="Connector 8"/>
          <p:cNvCxnSpPr/>
          <p:nvPr/>
        </p:nvCxnSpPr>
        <p:spPr>
          <a:xfrm>
            <a:off x="960120" y="562356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60120" y="5806440"/>
            <a:ext cx="6400800" cy="365760"/>
          </a:xfrm>
          <a:prstGeom prst="rect">
            <a:avLst/>
          </a:prstGeom>
          <a:noFill/>
        </p:spPr>
        <p:txBody>
          <a:bodyPr wrap="square" anchor="t" lIns="0" rIns="0" tIns="0" bIns="0">
            <a:spAutoFit/>
          </a:bodyPr>
          <a:lstStyle/>
          <a:p>
            <a:pPr algn="l">
              <a:lnSpc>
                <a:spcPct val="100000"/>
              </a:lnSpc>
              <a:spcAft>
                <a:spcPts val="0"/>
              </a:spcAft>
            </a:pPr>
            <a:r>
              <a:rPr sz="1000" b="1" i="0" spc="80">
                <a:solidFill>
                  <a:srgbClr val="666280"/>
                </a:solidFill>
                <a:latin typeface="Segoe UI"/>
              </a:rPr>
              <a:t>EVIDENCE-GROUNDED</a:t>
            </a:r>
            <a:r>
              <a:rPr sz="1000" b="0" i="0" spc="80">
                <a:solidFill>
                  <a:srgbClr val="D4D1E6"/>
                </a:solidFill>
                <a:latin typeface="Segoe UI"/>
              </a:rPr>
              <a:t>   ·   </a:t>
            </a:r>
            <a:r>
              <a:rPr sz="1000" b="1" i="0" spc="80">
                <a:solidFill>
                  <a:srgbClr val="666280"/>
                </a:solidFill>
                <a:latin typeface="Segoe UI"/>
              </a:rPr>
              <a:t>CONFIDENCE-AWARE</a:t>
            </a:r>
            <a:r>
              <a:rPr sz="1000" b="0" i="0" spc="80">
                <a:solidFill>
                  <a:srgbClr val="D4D1E6"/>
                </a:solidFill>
                <a:latin typeface="Segoe UI"/>
              </a:rPr>
              <a:t>   ·   </a:t>
            </a:r>
            <a:r>
              <a:rPr sz="1000" b="1" i="0" spc="80">
                <a:solidFill>
                  <a:srgbClr val="666280"/>
                </a:solidFill>
                <a:latin typeface="Segoe UI"/>
              </a:rPr>
              <a:t>AGENTIC</a:t>
            </a:r>
          </a:p>
        </p:txBody>
      </p:sp>
      <p:sp>
        <p:nvSpPr>
          <p:cNvPr id="11" name="TextBox 10"/>
          <p:cNvSpPr txBox="1"/>
          <p:nvPr/>
        </p:nvSpPr>
        <p:spPr>
          <a:xfrm>
            <a:off x="8046720" y="5806440"/>
            <a:ext cx="3108960" cy="365760"/>
          </a:xfrm>
          <a:prstGeom prst="rect">
            <a:avLst/>
          </a:prstGeom>
          <a:noFill/>
        </p:spPr>
        <p:txBody>
          <a:bodyPr wrap="square" anchor="t" lIns="0" rIns="0" tIns="0" bIns="0">
            <a:spAutoFit/>
          </a:bodyPr>
          <a:lstStyle/>
          <a:p>
            <a:pPr algn="r">
              <a:lnSpc>
                <a:spcPct val="100000"/>
              </a:lnSpc>
              <a:spcAft>
                <a:spcPts val="0"/>
              </a:spcAft>
            </a:pPr>
            <a:r>
              <a:rPr sz="1000" b="0" i="0">
                <a:solidFill>
                  <a:srgbClr val="666280"/>
                </a:solidFill>
                <a:latin typeface="Segoe UI"/>
              </a:rPr>
              <a:t>github.com/karthikeya020/careerpilot-ai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02</a:t>
            </a:r>
            <a:r>
              <a:rPr sz="1100" b="0" i="0" spc="140">
                <a:solidFill>
                  <a:srgbClr val="5B3DF6"/>
                </a:solidFill>
                <a:latin typeface="Segoe UI"/>
              </a:rPr>
              <a:t>   </a:t>
            </a:r>
            <a:r>
              <a:rPr sz="1100" b="1" i="0" spc="140">
                <a:solidFill>
                  <a:srgbClr val="666280"/>
                </a:solidFill>
                <a:latin typeface="Segoe UI"/>
              </a:rPr>
              <a:t>PROBLEM &amp; SOLUTION BRIEF</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Every score needs a reason.</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Placement tools hand students a number. CareerPilot hands them the evidence behind it.</a:t>
            </a:r>
          </a:p>
        </p:txBody>
      </p:sp>
      <p:cxnSp>
        <p:nvCxnSpPr>
          <p:cNvPr id="7" name="Connector 6"/>
          <p:cNvCxnSpPr/>
          <p:nvPr/>
        </p:nvCxnSpPr>
        <p:spPr>
          <a:xfrm>
            <a:off x="6263640" y="2148840"/>
            <a:ext cx="0" cy="3429000"/>
          </a:xfrm>
          <a:prstGeom prst="line">
            <a:avLst/>
          </a:prstGeom>
          <a:ln w="952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2148840"/>
            <a:ext cx="2743200" cy="274320"/>
          </a:xfrm>
          <a:prstGeom prst="rect">
            <a:avLst/>
          </a:prstGeom>
          <a:noFill/>
        </p:spPr>
        <p:txBody>
          <a:bodyPr wrap="square" anchor="t" lIns="0" rIns="0" tIns="0" bIns="0">
            <a:spAutoFit/>
          </a:bodyPr>
          <a:lstStyle/>
          <a:p>
            <a:pPr algn="l">
              <a:lnSpc>
                <a:spcPct val="100000"/>
              </a:lnSpc>
              <a:spcAft>
                <a:spcPts val="0"/>
              </a:spcAft>
            </a:pPr>
            <a:r>
              <a:rPr sz="1100" b="1" i="0" spc="130">
                <a:solidFill>
                  <a:srgbClr val="DC2626"/>
                </a:solidFill>
                <a:latin typeface="Segoe UI"/>
              </a:rPr>
              <a:t>THE PROBLEM</a:t>
            </a:r>
          </a:p>
        </p:txBody>
      </p:sp>
      <p:sp>
        <p:nvSpPr>
          <p:cNvPr id="9" name="TextBox 8"/>
          <p:cNvSpPr txBox="1"/>
          <p:nvPr/>
        </p:nvSpPr>
        <p:spPr>
          <a:xfrm>
            <a:off x="960120" y="2761488"/>
            <a:ext cx="498348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Disconnected tools.  </a:t>
            </a:r>
            <a:r>
              <a:rPr sz="1250" b="0" i="0">
                <a:solidFill>
                  <a:srgbClr val="666280"/>
                </a:solidFill>
                <a:latin typeface="Segoe UI"/>
              </a:rPr>
              <a:t>A resume grader, a generic chatbot, a static quiz — none share memory of the student.</a:t>
            </a:r>
          </a:p>
        </p:txBody>
      </p:sp>
      <p:cxnSp>
        <p:nvCxnSpPr>
          <p:cNvPr id="10" name="Connector 9"/>
          <p:cNvCxnSpPr/>
          <p:nvPr/>
        </p:nvCxnSpPr>
        <p:spPr>
          <a:xfrm>
            <a:off x="960120" y="3364992"/>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3474720"/>
            <a:ext cx="498348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No root cause.  </a:t>
            </a:r>
            <a:r>
              <a:rPr sz="1250" b="0" i="0">
                <a:solidFill>
                  <a:srgbClr val="666280"/>
                </a:solidFill>
                <a:latin typeface="Segoe UI"/>
              </a:rPr>
              <a:t>A weak score arrives with no explanation of why the student is actually struggling.</a:t>
            </a:r>
          </a:p>
        </p:txBody>
      </p:sp>
      <p:cxnSp>
        <p:nvCxnSpPr>
          <p:cNvPr id="12" name="Connector 11"/>
          <p:cNvCxnSpPr/>
          <p:nvPr/>
        </p:nvCxnSpPr>
        <p:spPr>
          <a:xfrm>
            <a:off x="960120" y="4078224"/>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60120" y="4187952"/>
            <a:ext cx="498348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Black-box AI.  </a:t>
            </a:r>
            <a:r>
              <a:rPr sz="1250" b="0" i="0">
                <a:solidFill>
                  <a:srgbClr val="666280"/>
                </a:solidFill>
                <a:latin typeface="Segoe UI"/>
              </a:rPr>
              <a:t>Outputs carry no evidence, no confidence, and no audit trail behind the number.</a:t>
            </a:r>
          </a:p>
        </p:txBody>
      </p:sp>
      <p:cxnSp>
        <p:nvCxnSpPr>
          <p:cNvPr id="14" name="Connector 13"/>
          <p:cNvCxnSpPr/>
          <p:nvPr/>
        </p:nvCxnSpPr>
        <p:spPr>
          <a:xfrm>
            <a:off x="960120" y="4791456"/>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60120" y="4901184"/>
            <a:ext cx="498348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Mentorship doesn't scale.  </a:t>
            </a:r>
            <a:r>
              <a:rPr sz="1250" b="0" i="0">
                <a:solidFill>
                  <a:srgbClr val="666280"/>
                </a:solidFill>
                <a:latin typeface="Segoe UI"/>
              </a:rPr>
              <a:t>1:1 placement guidance can't reach the millions of students who need it.</a:t>
            </a:r>
          </a:p>
        </p:txBody>
      </p:sp>
      <p:sp>
        <p:nvSpPr>
          <p:cNvPr id="16" name="TextBox 15"/>
          <p:cNvSpPr txBox="1"/>
          <p:nvPr/>
        </p:nvSpPr>
        <p:spPr>
          <a:xfrm>
            <a:off x="6583680" y="2148840"/>
            <a:ext cx="2743200" cy="274320"/>
          </a:xfrm>
          <a:prstGeom prst="rect">
            <a:avLst/>
          </a:prstGeom>
          <a:noFill/>
        </p:spPr>
        <p:txBody>
          <a:bodyPr wrap="square" anchor="t" lIns="0" rIns="0" tIns="0" bIns="0">
            <a:spAutoFit/>
          </a:bodyPr>
          <a:lstStyle/>
          <a:p>
            <a:pPr algn="l">
              <a:lnSpc>
                <a:spcPct val="100000"/>
              </a:lnSpc>
              <a:spcAft>
                <a:spcPts val="0"/>
              </a:spcAft>
            </a:pPr>
            <a:r>
              <a:rPr sz="1100" b="1" i="0" spc="130">
                <a:solidFill>
                  <a:srgbClr val="5B3DF6"/>
                </a:solidFill>
                <a:latin typeface="Segoe UI"/>
              </a:rPr>
              <a:t>THE SOLUTION</a:t>
            </a:r>
          </a:p>
        </p:txBody>
      </p:sp>
      <p:sp>
        <p:nvSpPr>
          <p:cNvPr id="17" name="TextBox 16"/>
          <p:cNvSpPr txBox="1"/>
          <p:nvPr/>
        </p:nvSpPr>
        <p:spPr>
          <a:xfrm>
            <a:off x="6583680" y="2761488"/>
            <a:ext cx="512064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Career Twin.  </a:t>
            </a:r>
            <a:r>
              <a:rPr sz="1250" b="0" i="0">
                <a:solidFill>
                  <a:srgbClr val="666280"/>
                </a:solidFill>
                <a:latin typeface="Segoe UI"/>
              </a:rPr>
              <a:t>One persistent, evidence-backed model that remembers every student across sessions.</a:t>
            </a:r>
          </a:p>
        </p:txBody>
      </p:sp>
      <p:cxnSp>
        <p:nvCxnSpPr>
          <p:cNvPr id="18" name="Connector 17"/>
          <p:cNvCxnSpPr/>
          <p:nvPr/>
        </p:nvCxnSpPr>
        <p:spPr>
          <a:xfrm>
            <a:off x="6583680" y="3364992"/>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0" y="3474720"/>
            <a:ext cx="512064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GraphRAG root cause.  </a:t>
            </a:r>
            <a:r>
              <a:rPr sz="1250" b="0" i="0">
                <a:solidFill>
                  <a:srgbClr val="666280"/>
                </a:solidFill>
                <a:latin typeface="Segoe UI"/>
              </a:rPr>
              <a:t>Traces a weak score through a real knowledge graph to the exact missing prerequisite.</a:t>
            </a:r>
          </a:p>
        </p:txBody>
      </p:sp>
      <p:cxnSp>
        <p:nvCxnSpPr>
          <p:cNvPr id="20" name="Connector 19"/>
          <p:cNvCxnSpPr/>
          <p:nvPr/>
        </p:nvCxnSpPr>
        <p:spPr>
          <a:xfrm>
            <a:off x="6583680" y="4078224"/>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0" y="4187952"/>
            <a:ext cx="512064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CARE Engine.  </a:t>
            </a:r>
            <a:r>
              <a:rPr sz="1250" b="0" i="0">
                <a:solidFill>
                  <a:srgbClr val="666280"/>
                </a:solidFill>
                <a:latin typeface="Segoe UI"/>
              </a:rPr>
              <a:t>Confidence-aware routing — specialist, council, critic, or human, chosen per decision.</a:t>
            </a:r>
          </a:p>
        </p:txBody>
      </p:sp>
      <p:cxnSp>
        <p:nvCxnSpPr>
          <p:cNvPr id="22" name="Connector 21"/>
          <p:cNvCxnSpPr/>
          <p:nvPr/>
        </p:nvCxnSpPr>
        <p:spPr>
          <a:xfrm>
            <a:off x="6583680" y="4791456"/>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0" y="4901184"/>
            <a:ext cx="5120640" cy="603504"/>
          </a:xfrm>
          <a:prstGeom prst="rect">
            <a:avLst/>
          </a:prstGeom>
          <a:noFill/>
        </p:spPr>
        <p:txBody>
          <a:bodyPr wrap="square" anchor="t" lIns="0" rIns="0" tIns="0" bIns="0">
            <a:spAutoFit/>
          </a:bodyPr>
          <a:lstStyle/>
          <a:p>
            <a:pPr algn="l">
              <a:lnSpc>
                <a:spcPct val="120000"/>
              </a:lnSpc>
              <a:spcAft>
                <a:spcPts val="0"/>
              </a:spcAft>
            </a:pPr>
            <a:r>
              <a:rPr sz="1250" b="1" i="0">
                <a:solidFill>
                  <a:srgbClr val="14121F"/>
                </a:solidFill>
                <a:latin typeface="Segoe UI"/>
              </a:rPr>
              <a:t>Trust Center.  </a:t>
            </a:r>
            <a:r>
              <a:rPr sz="1250" b="0" i="0">
                <a:solidFill>
                  <a:srgbClr val="666280"/>
                </a:solidFill>
                <a:latin typeface="Segoe UI"/>
              </a:rPr>
              <a:t>Every score links back to its evidence, its confidence, and its full decision trace.</a:t>
            </a:r>
          </a:p>
        </p:txBody>
      </p:sp>
      <p:cxnSp>
        <p:nvCxnSpPr>
          <p:cNvPr id="24" name="Connector 23"/>
          <p:cNvCxnSpPr/>
          <p:nvPr/>
        </p:nvCxnSpPr>
        <p:spPr>
          <a:xfrm>
            <a:off x="960120" y="5806440"/>
            <a:ext cx="10104120" cy="0"/>
          </a:xfrm>
          <a:prstGeom prst="line">
            <a:avLst/>
          </a:prstGeom>
          <a:ln w="952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0120" y="5943600"/>
            <a:ext cx="10104120" cy="457200"/>
          </a:xfrm>
          <a:prstGeom prst="rect">
            <a:avLst/>
          </a:prstGeom>
          <a:noFill/>
        </p:spPr>
        <p:txBody>
          <a:bodyPr wrap="square" anchor="t" lIns="0" rIns="0" tIns="0" bIns="0">
            <a:spAutoFit/>
          </a:bodyPr>
          <a:lstStyle/>
          <a:p>
            <a:pPr algn="ctr">
              <a:lnSpc>
                <a:spcPct val="100000"/>
              </a:lnSpc>
              <a:spcAft>
                <a:spcPts val="0"/>
              </a:spcAft>
            </a:pPr>
            <a:r>
              <a:rPr sz="1300" b="0" i="1">
                <a:solidFill>
                  <a:srgbClr val="14121F"/>
                </a:solidFill>
                <a:latin typeface="Georgia"/>
              </a:rPr>
              <a:t>No random scores — every AI output is linked to evidence, confidence, provenance, and a decision trace.</a:t>
            </a:r>
          </a:p>
        </p:txBody>
      </p:sp>
      <p:sp>
        <p:nvSpPr>
          <p:cNvPr id="26" name="TextBox 25"/>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27" name="TextBox 26"/>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02</a:t>
            </a:r>
            <a:r>
              <a:rPr sz="900" b="0" i="0">
                <a:solidFill>
                  <a:srgbClr val="666280"/>
                </a:solidFill>
                <a:latin typeface="Segoe UI"/>
              </a:rPr>
              <a:t>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03</a:t>
            </a:r>
            <a:r>
              <a:rPr sz="1100" b="0" i="0" spc="140">
                <a:solidFill>
                  <a:srgbClr val="5B3DF6"/>
                </a:solidFill>
                <a:latin typeface="Segoe UI"/>
              </a:rPr>
              <a:t>   </a:t>
            </a:r>
            <a:r>
              <a:rPr sz="1100" b="1" i="0" spc="140">
                <a:solidFill>
                  <a:srgbClr val="666280"/>
                </a:solidFill>
                <a:latin typeface="Segoe UI"/>
              </a:rPr>
              <a:t>SYSTEM ARCHITECTURE / WORKFLOW</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One continuous loop, real data end to end.</a:t>
            </a:r>
          </a:p>
        </p:txBody>
      </p:sp>
      <p:sp>
        <p:nvSpPr>
          <p:cNvPr id="6" name="TextBox 5"/>
          <p:cNvSpPr txBox="1"/>
          <p:nvPr/>
        </p:nvSpPr>
        <p:spPr>
          <a:xfrm>
            <a:off x="960120" y="1600200"/>
            <a:ext cx="5486400" cy="274320"/>
          </a:xfrm>
          <a:prstGeom prst="rect">
            <a:avLst/>
          </a:prstGeom>
          <a:noFill/>
        </p:spPr>
        <p:txBody>
          <a:bodyPr wrap="square" anchor="t" lIns="0" rIns="0" tIns="0" bIns="0">
            <a:spAutoFit/>
          </a:bodyPr>
          <a:lstStyle/>
          <a:p>
            <a:pPr algn="l">
              <a:lnSpc>
                <a:spcPct val="100000"/>
              </a:lnSpc>
              <a:spcAft>
                <a:spcPts val="0"/>
              </a:spcAft>
            </a:pPr>
            <a:r>
              <a:rPr sz="1050" b="1" i="0" spc="120">
                <a:solidFill>
                  <a:srgbClr val="666280"/>
                </a:solidFill>
                <a:latin typeface="Segoe UI"/>
              </a:rPr>
              <a:t>STUDENT IMPROVEMENT LOOP</a:t>
            </a:r>
          </a:p>
        </p:txBody>
      </p:sp>
      <p:cxnSp>
        <p:nvCxnSpPr>
          <p:cNvPr id="7" name="Connector 6"/>
          <p:cNvCxnSpPr/>
          <p:nvPr/>
        </p:nvCxnSpPr>
        <p:spPr>
          <a:xfrm>
            <a:off x="960120" y="2432304"/>
            <a:ext cx="10104120" cy="0"/>
          </a:xfrm>
          <a:prstGeom prst="line">
            <a:avLst/>
          </a:prstGeom>
          <a:ln w="1587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59536" y="2331720"/>
            <a:ext cx="201168" cy="201168"/>
          </a:xfrm>
          <a:prstGeom prst="ellipse">
            <a:avLst/>
          </a:prstGeom>
          <a:solidFill>
            <a:srgbClr val="FFFFFF"/>
          </a:solidFill>
          <a:ln w="25400">
            <a:solidFill>
              <a:srgbClr val="5B3D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2660904"/>
            <a:ext cx="192024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14121F"/>
                </a:solidFill>
                <a:latin typeface="Segoe UI"/>
              </a:rPr>
              <a:t>Evidence</a:t>
            </a:r>
          </a:p>
        </p:txBody>
      </p:sp>
      <p:sp>
        <p:nvSpPr>
          <p:cNvPr id="10" name="TextBox 9"/>
          <p:cNvSpPr txBox="1"/>
          <p:nvPr/>
        </p:nvSpPr>
        <p:spPr>
          <a:xfrm>
            <a:off x="0" y="2953512"/>
            <a:ext cx="1920240" cy="365760"/>
          </a:xfrm>
          <a:prstGeom prst="rect">
            <a:avLst/>
          </a:prstGeom>
          <a:noFill/>
        </p:spPr>
        <p:txBody>
          <a:bodyPr wrap="square" anchor="t" lIns="0" rIns="0" tIns="0" bIns="0">
            <a:spAutoFit/>
          </a:bodyPr>
          <a:lstStyle/>
          <a:p>
            <a:pPr algn="ctr">
              <a:lnSpc>
                <a:spcPct val="105000"/>
              </a:lnSpc>
              <a:spcAft>
                <a:spcPts val="0"/>
              </a:spcAft>
            </a:pPr>
            <a:r>
              <a:rPr sz="950" b="0" i="0">
                <a:solidFill>
                  <a:srgbClr val="666280"/>
                </a:solidFill>
                <a:latin typeface="Segoe UI"/>
              </a:rPr>
              <a:t>resume / JD</a:t>
            </a:r>
          </a:p>
        </p:txBody>
      </p:sp>
      <p:sp>
        <p:nvSpPr>
          <p:cNvPr id="11" name="Oval 10"/>
          <p:cNvSpPr/>
          <p:nvPr/>
        </p:nvSpPr>
        <p:spPr>
          <a:xfrm>
            <a:off x="3385566" y="2331720"/>
            <a:ext cx="201168" cy="201168"/>
          </a:xfrm>
          <a:prstGeom prst="ellipse">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26030" y="2660904"/>
            <a:ext cx="192024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14121F"/>
                </a:solidFill>
                <a:latin typeface="Segoe UI"/>
              </a:rPr>
              <a:t>Career Twin</a:t>
            </a:r>
          </a:p>
        </p:txBody>
      </p:sp>
      <p:sp>
        <p:nvSpPr>
          <p:cNvPr id="13" name="TextBox 12"/>
          <p:cNvSpPr txBox="1"/>
          <p:nvPr/>
        </p:nvSpPr>
        <p:spPr>
          <a:xfrm>
            <a:off x="2526030" y="2953512"/>
            <a:ext cx="1920240" cy="365760"/>
          </a:xfrm>
          <a:prstGeom prst="rect">
            <a:avLst/>
          </a:prstGeom>
          <a:noFill/>
        </p:spPr>
        <p:txBody>
          <a:bodyPr wrap="square" anchor="t" lIns="0" rIns="0" tIns="0" bIns="0">
            <a:spAutoFit/>
          </a:bodyPr>
          <a:lstStyle/>
          <a:p>
            <a:pPr algn="ctr">
              <a:lnSpc>
                <a:spcPct val="105000"/>
              </a:lnSpc>
              <a:spcAft>
                <a:spcPts val="0"/>
              </a:spcAft>
            </a:pPr>
            <a:r>
              <a:rPr sz="950" b="0" i="0">
                <a:solidFill>
                  <a:srgbClr val="666280"/>
                </a:solidFill>
                <a:latin typeface="Segoe UI"/>
              </a:rPr>
              <a:t>score + confidence</a:t>
            </a:r>
          </a:p>
        </p:txBody>
      </p:sp>
      <p:sp>
        <p:nvSpPr>
          <p:cNvPr id="14" name="Oval 13"/>
          <p:cNvSpPr/>
          <p:nvPr/>
        </p:nvSpPr>
        <p:spPr>
          <a:xfrm>
            <a:off x="5911596" y="2331720"/>
            <a:ext cx="201168" cy="201168"/>
          </a:xfrm>
          <a:prstGeom prst="ellipse">
            <a:avLst/>
          </a:prstGeom>
          <a:solidFill>
            <a:srgbClr val="FFFFFF"/>
          </a:solidFill>
          <a:ln w="25400">
            <a:solidFill>
              <a:srgbClr val="5B3D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52060" y="2660904"/>
            <a:ext cx="192024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14121F"/>
                </a:solidFill>
                <a:latin typeface="Segoe UI"/>
              </a:rPr>
              <a:t>Root cause</a:t>
            </a:r>
          </a:p>
        </p:txBody>
      </p:sp>
      <p:sp>
        <p:nvSpPr>
          <p:cNvPr id="16" name="TextBox 15"/>
          <p:cNvSpPr txBox="1"/>
          <p:nvPr/>
        </p:nvSpPr>
        <p:spPr>
          <a:xfrm>
            <a:off x="5052060" y="2953512"/>
            <a:ext cx="1920240" cy="365760"/>
          </a:xfrm>
          <a:prstGeom prst="rect">
            <a:avLst/>
          </a:prstGeom>
          <a:noFill/>
        </p:spPr>
        <p:txBody>
          <a:bodyPr wrap="square" anchor="t" lIns="0" rIns="0" tIns="0" bIns="0">
            <a:spAutoFit/>
          </a:bodyPr>
          <a:lstStyle/>
          <a:p>
            <a:pPr algn="ctr">
              <a:lnSpc>
                <a:spcPct val="105000"/>
              </a:lnSpc>
              <a:spcAft>
                <a:spcPts val="0"/>
              </a:spcAft>
            </a:pPr>
            <a:r>
              <a:rPr sz="950" b="0" i="0">
                <a:solidFill>
                  <a:srgbClr val="666280"/>
                </a:solidFill>
                <a:latin typeface="Segoe UI"/>
              </a:rPr>
              <a:t>GraphRAG traversal</a:t>
            </a:r>
          </a:p>
        </p:txBody>
      </p:sp>
      <p:sp>
        <p:nvSpPr>
          <p:cNvPr id="17" name="Oval 16"/>
          <p:cNvSpPr/>
          <p:nvPr/>
        </p:nvSpPr>
        <p:spPr>
          <a:xfrm>
            <a:off x="8437626" y="2331720"/>
            <a:ext cx="201168" cy="201168"/>
          </a:xfrm>
          <a:prstGeom prst="ellipse">
            <a:avLst/>
          </a:prstGeom>
          <a:solidFill>
            <a:srgbClr val="FFFFFF"/>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8090" y="2660904"/>
            <a:ext cx="192024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14121F"/>
                </a:solidFill>
                <a:latin typeface="Segoe UI"/>
              </a:rPr>
              <a:t>CARE routing</a:t>
            </a:r>
          </a:p>
        </p:txBody>
      </p:sp>
      <p:sp>
        <p:nvSpPr>
          <p:cNvPr id="19" name="TextBox 18"/>
          <p:cNvSpPr txBox="1"/>
          <p:nvPr/>
        </p:nvSpPr>
        <p:spPr>
          <a:xfrm>
            <a:off x="7578090" y="2953512"/>
            <a:ext cx="1920240" cy="365760"/>
          </a:xfrm>
          <a:prstGeom prst="rect">
            <a:avLst/>
          </a:prstGeom>
          <a:noFill/>
        </p:spPr>
        <p:txBody>
          <a:bodyPr wrap="square" anchor="t" lIns="0" rIns="0" tIns="0" bIns="0">
            <a:spAutoFit/>
          </a:bodyPr>
          <a:lstStyle/>
          <a:p>
            <a:pPr algn="ctr">
              <a:lnSpc>
                <a:spcPct val="105000"/>
              </a:lnSpc>
              <a:spcAft>
                <a:spcPts val="0"/>
              </a:spcAft>
            </a:pPr>
            <a:r>
              <a:rPr sz="950" b="0" i="0">
                <a:solidFill>
                  <a:srgbClr val="666280"/>
                </a:solidFill>
                <a:latin typeface="Segoe UI"/>
              </a:rPr>
              <a:t>specialist → council</a:t>
            </a:r>
          </a:p>
        </p:txBody>
      </p:sp>
      <p:sp>
        <p:nvSpPr>
          <p:cNvPr id="20" name="Oval 19"/>
          <p:cNvSpPr/>
          <p:nvPr/>
        </p:nvSpPr>
        <p:spPr>
          <a:xfrm>
            <a:off x="10963656" y="2331720"/>
            <a:ext cx="201168" cy="201168"/>
          </a:xfrm>
          <a:prstGeom prst="ellipse">
            <a:avLst/>
          </a:prstGeom>
          <a:solidFill>
            <a:srgbClr val="FFFFFF"/>
          </a:solidFill>
          <a:ln w="25400">
            <a:solidFill>
              <a:srgbClr val="5B3D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04120" y="2660904"/>
            <a:ext cx="192024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14121F"/>
                </a:solidFill>
                <a:latin typeface="Segoe UI"/>
              </a:rPr>
              <a:t>Mission</a:t>
            </a:r>
          </a:p>
        </p:txBody>
      </p:sp>
      <p:sp>
        <p:nvSpPr>
          <p:cNvPr id="22" name="TextBox 21"/>
          <p:cNvSpPr txBox="1"/>
          <p:nvPr/>
        </p:nvSpPr>
        <p:spPr>
          <a:xfrm>
            <a:off x="10104120" y="2953512"/>
            <a:ext cx="1920240" cy="365760"/>
          </a:xfrm>
          <a:prstGeom prst="rect">
            <a:avLst/>
          </a:prstGeom>
          <a:noFill/>
        </p:spPr>
        <p:txBody>
          <a:bodyPr wrap="square" anchor="t" lIns="0" rIns="0" tIns="0" bIns="0">
            <a:spAutoFit/>
          </a:bodyPr>
          <a:lstStyle/>
          <a:p>
            <a:pPr algn="ctr">
              <a:lnSpc>
                <a:spcPct val="105000"/>
              </a:lnSpc>
              <a:spcAft>
                <a:spcPts val="0"/>
              </a:spcAft>
            </a:pPr>
            <a:r>
              <a:rPr sz="950" b="0" i="0">
                <a:solidFill>
                  <a:srgbClr val="666280"/>
                </a:solidFill>
                <a:latin typeface="Segoe UI"/>
              </a:rPr>
              <a:t>reassess &amp; update</a:t>
            </a:r>
          </a:p>
        </p:txBody>
      </p:sp>
      <p:sp>
        <p:nvSpPr>
          <p:cNvPr id="23" name="TextBox 22"/>
          <p:cNvSpPr txBox="1"/>
          <p:nvPr/>
        </p:nvSpPr>
        <p:spPr>
          <a:xfrm>
            <a:off x="960120" y="3429000"/>
            <a:ext cx="10104120" cy="274320"/>
          </a:xfrm>
          <a:prstGeom prst="rect">
            <a:avLst/>
          </a:prstGeom>
          <a:noFill/>
        </p:spPr>
        <p:txBody>
          <a:bodyPr wrap="square" anchor="t" lIns="0" rIns="0" tIns="0" bIns="0">
            <a:spAutoFit/>
          </a:bodyPr>
          <a:lstStyle/>
          <a:p>
            <a:pPr algn="ctr">
              <a:lnSpc>
                <a:spcPct val="100000"/>
              </a:lnSpc>
              <a:spcAft>
                <a:spcPts val="0"/>
              </a:spcAft>
            </a:pPr>
            <a:r>
              <a:rPr sz="1050" b="0" i="1">
                <a:solidFill>
                  <a:srgbClr val="666280"/>
                </a:solidFill>
                <a:latin typeface="Segoe UI"/>
              </a:rPr>
              <a:t>Twin update feeds the next mission — every stop is the same student's real data, not six demos stitched together.</a:t>
            </a:r>
          </a:p>
        </p:txBody>
      </p:sp>
      <p:cxnSp>
        <p:nvCxnSpPr>
          <p:cNvPr id="24" name="Connector 23"/>
          <p:cNvCxnSpPr/>
          <p:nvPr/>
        </p:nvCxnSpPr>
        <p:spPr>
          <a:xfrm>
            <a:off x="960120" y="388620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0120" y="4069080"/>
            <a:ext cx="5486400" cy="274320"/>
          </a:xfrm>
          <a:prstGeom prst="rect">
            <a:avLst/>
          </a:prstGeom>
          <a:noFill/>
        </p:spPr>
        <p:txBody>
          <a:bodyPr wrap="square" anchor="t" lIns="0" rIns="0" tIns="0" bIns="0">
            <a:spAutoFit/>
          </a:bodyPr>
          <a:lstStyle/>
          <a:p>
            <a:pPr algn="l">
              <a:lnSpc>
                <a:spcPct val="100000"/>
              </a:lnSpc>
              <a:spcAft>
                <a:spcPts val="0"/>
              </a:spcAft>
            </a:pPr>
            <a:r>
              <a:rPr sz="1050" b="1" i="0" spc="120">
                <a:solidFill>
                  <a:srgbClr val="666280"/>
                </a:solidFill>
                <a:latin typeface="Segoe UI"/>
              </a:rPr>
              <a:t>TECHNICAL ARCHITECTURE</a:t>
            </a:r>
          </a:p>
        </p:txBody>
      </p:sp>
      <p:sp>
        <p:nvSpPr>
          <p:cNvPr id="26" name="TextBox 25"/>
          <p:cNvSpPr txBox="1"/>
          <p:nvPr/>
        </p:nvSpPr>
        <p:spPr>
          <a:xfrm>
            <a:off x="960120" y="4672584"/>
            <a:ext cx="1737360" cy="457200"/>
          </a:xfrm>
          <a:prstGeom prst="rect">
            <a:avLst/>
          </a:prstGeom>
          <a:noFill/>
        </p:spPr>
        <p:txBody>
          <a:bodyPr wrap="square" anchor="t" lIns="0" rIns="0" tIns="0" bIns="0">
            <a:spAutoFit/>
          </a:bodyPr>
          <a:lstStyle/>
          <a:p>
            <a:pPr algn="l">
              <a:lnSpc>
                <a:spcPct val="100000"/>
              </a:lnSpc>
              <a:spcAft>
                <a:spcPts val="0"/>
              </a:spcAft>
            </a:pPr>
            <a:r>
              <a:rPr sz="1050" b="1" i="0" spc="80">
                <a:solidFill>
                  <a:srgbClr val="5B3DF6"/>
                </a:solidFill>
                <a:latin typeface="Segoe UI"/>
              </a:rPr>
              <a:t>INTERFACE</a:t>
            </a:r>
          </a:p>
        </p:txBody>
      </p:sp>
      <p:sp>
        <p:nvSpPr>
          <p:cNvPr id="27" name="TextBox 26"/>
          <p:cNvSpPr txBox="1"/>
          <p:nvPr/>
        </p:nvSpPr>
        <p:spPr>
          <a:xfrm>
            <a:off x="2697480" y="4672584"/>
            <a:ext cx="8321040" cy="457200"/>
          </a:xfrm>
          <a:prstGeom prst="rect">
            <a:avLst/>
          </a:prstGeom>
          <a:noFill/>
        </p:spPr>
        <p:txBody>
          <a:bodyPr wrap="square" anchor="t" lIns="0" rIns="0" tIns="0" bIns="0">
            <a:spAutoFit/>
          </a:bodyPr>
          <a:lstStyle/>
          <a:p>
            <a:pPr algn="l">
              <a:lnSpc>
                <a:spcPct val="100000"/>
              </a:lnSpc>
              <a:spcAft>
                <a:spcPts val="0"/>
              </a:spcAft>
            </a:pPr>
            <a:r>
              <a:rPr sz="1200" b="0" i="0">
                <a:solidFill>
                  <a:srgbClr val="14121F"/>
                </a:solidFill>
                <a:latin typeface="Segoe UI"/>
              </a:rPr>
              <a:t>Next.js 16 Career OS  ·  FastAPI gateway  ·  JWT auth &amp; rate limiting</a:t>
            </a:r>
          </a:p>
        </p:txBody>
      </p:sp>
      <p:cxnSp>
        <p:nvCxnSpPr>
          <p:cNvPr id="28" name="Connector 27"/>
          <p:cNvCxnSpPr/>
          <p:nvPr/>
        </p:nvCxnSpPr>
        <p:spPr>
          <a:xfrm>
            <a:off x="960120" y="502920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60120" y="5175504"/>
            <a:ext cx="1737360" cy="457200"/>
          </a:xfrm>
          <a:prstGeom prst="rect">
            <a:avLst/>
          </a:prstGeom>
          <a:noFill/>
        </p:spPr>
        <p:txBody>
          <a:bodyPr wrap="square" anchor="t" lIns="0" rIns="0" tIns="0" bIns="0">
            <a:spAutoFit/>
          </a:bodyPr>
          <a:lstStyle/>
          <a:p>
            <a:pPr algn="l">
              <a:lnSpc>
                <a:spcPct val="100000"/>
              </a:lnSpc>
              <a:spcAft>
                <a:spcPts val="0"/>
              </a:spcAft>
            </a:pPr>
            <a:r>
              <a:rPr sz="1050" b="1" i="0" spc="80">
                <a:solidFill>
                  <a:srgbClr val="5B3DF6"/>
                </a:solidFill>
                <a:latin typeface="Segoe UI"/>
              </a:rPr>
              <a:t>REASONING</a:t>
            </a:r>
          </a:p>
        </p:txBody>
      </p:sp>
      <p:sp>
        <p:nvSpPr>
          <p:cNvPr id="30" name="TextBox 29"/>
          <p:cNvSpPr txBox="1"/>
          <p:nvPr/>
        </p:nvSpPr>
        <p:spPr>
          <a:xfrm>
            <a:off x="2697480" y="5175504"/>
            <a:ext cx="8321040" cy="457200"/>
          </a:xfrm>
          <a:prstGeom prst="rect">
            <a:avLst/>
          </a:prstGeom>
          <a:noFill/>
        </p:spPr>
        <p:txBody>
          <a:bodyPr wrap="square" anchor="t" lIns="0" rIns="0" tIns="0" bIns="0">
            <a:spAutoFit/>
          </a:bodyPr>
          <a:lstStyle/>
          <a:p>
            <a:pPr algn="l">
              <a:lnSpc>
                <a:spcPct val="100000"/>
              </a:lnSpc>
              <a:spcAft>
                <a:spcPts val="0"/>
              </a:spcAft>
            </a:pPr>
            <a:r>
              <a:rPr sz="1200" b="0" i="0">
                <a:solidFill>
                  <a:srgbClr val="14121F"/>
                </a:solidFill>
                <a:latin typeface="Segoe UI"/>
              </a:rPr>
              <a:t>CARE Engine  →  single specialist  ·  multi-agent council  ·  critic / reflection  ·  human-review flag</a:t>
            </a:r>
          </a:p>
        </p:txBody>
      </p:sp>
      <p:cxnSp>
        <p:nvCxnSpPr>
          <p:cNvPr id="31" name="Connector 30"/>
          <p:cNvCxnSpPr/>
          <p:nvPr/>
        </p:nvCxnSpPr>
        <p:spPr>
          <a:xfrm>
            <a:off x="960120" y="553212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0120" y="5678424"/>
            <a:ext cx="1737360" cy="457200"/>
          </a:xfrm>
          <a:prstGeom prst="rect">
            <a:avLst/>
          </a:prstGeom>
          <a:noFill/>
        </p:spPr>
        <p:txBody>
          <a:bodyPr wrap="square" anchor="t" lIns="0" rIns="0" tIns="0" bIns="0">
            <a:spAutoFit/>
          </a:bodyPr>
          <a:lstStyle/>
          <a:p>
            <a:pPr algn="l">
              <a:lnSpc>
                <a:spcPct val="100000"/>
              </a:lnSpc>
              <a:spcAft>
                <a:spcPts val="0"/>
              </a:spcAft>
            </a:pPr>
            <a:r>
              <a:rPr sz="1050" b="1" i="0" spc="80">
                <a:solidFill>
                  <a:srgbClr val="5B3DF6"/>
                </a:solidFill>
                <a:latin typeface="Segoe UI"/>
              </a:rPr>
              <a:t>DATA &amp; AI</a:t>
            </a:r>
          </a:p>
        </p:txBody>
      </p:sp>
      <p:sp>
        <p:nvSpPr>
          <p:cNvPr id="33" name="TextBox 32"/>
          <p:cNvSpPr txBox="1"/>
          <p:nvPr/>
        </p:nvSpPr>
        <p:spPr>
          <a:xfrm>
            <a:off x="2697480" y="5678424"/>
            <a:ext cx="8321040" cy="457200"/>
          </a:xfrm>
          <a:prstGeom prst="rect">
            <a:avLst/>
          </a:prstGeom>
          <a:noFill/>
        </p:spPr>
        <p:txBody>
          <a:bodyPr wrap="square" anchor="t" lIns="0" rIns="0" tIns="0" bIns="0">
            <a:spAutoFit/>
          </a:bodyPr>
          <a:lstStyle/>
          <a:p>
            <a:pPr algn="l">
              <a:lnSpc>
                <a:spcPct val="100000"/>
              </a:lnSpc>
              <a:spcAft>
                <a:spcPts val="0"/>
              </a:spcAft>
            </a:pPr>
            <a:r>
              <a:rPr sz="1200" b="0" i="0">
                <a:solidFill>
                  <a:srgbClr val="14121F"/>
                </a:solidFill>
                <a:latin typeface="Segoe UI"/>
              </a:rPr>
              <a:t>PostgreSQL + pgvector  ·  Neo4j knowledge graph  ·  Redis cache  ·  Anthropic adapter (deterministic default)</a:t>
            </a:r>
          </a:p>
        </p:txBody>
      </p:sp>
      <p:sp>
        <p:nvSpPr>
          <p:cNvPr id="34" name="TextBox 33"/>
          <p:cNvSpPr txBox="1"/>
          <p:nvPr/>
        </p:nvSpPr>
        <p:spPr>
          <a:xfrm>
            <a:off x="960120" y="6236208"/>
            <a:ext cx="10104120" cy="274320"/>
          </a:xfrm>
          <a:prstGeom prst="rect">
            <a:avLst/>
          </a:prstGeom>
          <a:noFill/>
        </p:spPr>
        <p:txBody>
          <a:bodyPr wrap="square" anchor="t" lIns="0" rIns="0" tIns="0" bIns="0">
            <a:spAutoFit/>
          </a:bodyPr>
          <a:lstStyle/>
          <a:p>
            <a:pPr algn="l">
              <a:lnSpc>
                <a:spcPct val="100000"/>
              </a:lnSpc>
              <a:spcAft>
                <a:spcPts val="0"/>
              </a:spcAft>
            </a:pPr>
            <a:r>
              <a:rPr sz="1000" b="0" i="0">
                <a:solidFill>
                  <a:srgbClr val="666280"/>
                </a:solidFill>
                <a:latin typeface="Segoe UI"/>
              </a:rPr>
              <a:t>Runs fully offline — every score-producing path has a deterministic default; zero API keys required.</a:t>
            </a:r>
          </a:p>
        </p:txBody>
      </p:sp>
      <p:sp>
        <p:nvSpPr>
          <p:cNvPr id="35" name="TextBox 34"/>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36" name="TextBox 35"/>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03</a:t>
            </a:r>
            <a:r>
              <a:rPr sz="900" b="0" i="0">
                <a:solidFill>
                  <a:srgbClr val="666280"/>
                </a:solidFill>
                <a:latin typeface="Segoe UI"/>
              </a:rPr>
              <a:t> /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04</a:t>
            </a:r>
            <a:r>
              <a:rPr sz="1100" b="0" i="0" spc="140">
                <a:solidFill>
                  <a:srgbClr val="5B3DF6"/>
                </a:solidFill>
                <a:latin typeface="Segoe UI"/>
              </a:rPr>
              <a:t>   </a:t>
            </a:r>
            <a:r>
              <a:rPr sz="1100" b="1" i="0" spc="140">
                <a:solidFill>
                  <a:srgbClr val="666280"/>
                </a:solidFill>
                <a:latin typeface="Segoe UI"/>
              </a:rPr>
              <a:t>FLAGSHIP INNOVATIONS</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Six systems, one closed-loop Career OS.</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Not six bolted-on tools — one pipeline where each system feeds the next.</a:t>
            </a:r>
          </a:p>
        </p:txBody>
      </p:sp>
      <p:sp>
        <p:nvSpPr>
          <p:cNvPr id="7" name="TextBox 6"/>
          <p:cNvSpPr txBox="1"/>
          <p:nvPr/>
        </p:nvSpPr>
        <p:spPr>
          <a:xfrm>
            <a:off x="960120" y="2148840"/>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5B3DF6"/>
                </a:solidFill>
                <a:latin typeface="Georgia"/>
              </a:rPr>
              <a:t>01</a:t>
            </a:r>
          </a:p>
        </p:txBody>
      </p:sp>
      <p:sp>
        <p:nvSpPr>
          <p:cNvPr id="8" name="TextBox 7"/>
          <p:cNvSpPr txBox="1"/>
          <p:nvPr/>
        </p:nvSpPr>
        <p:spPr>
          <a:xfrm>
            <a:off x="1737360" y="2167128"/>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Career Twin</a:t>
            </a:r>
          </a:p>
        </p:txBody>
      </p:sp>
      <p:sp>
        <p:nvSpPr>
          <p:cNvPr id="9" name="TextBox 8"/>
          <p:cNvSpPr txBox="1"/>
          <p:nvPr/>
        </p:nvSpPr>
        <p:spPr>
          <a:xfrm>
            <a:off x="1737360" y="2532888"/>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A persistent, evidence-backed model per student across six readiness components, each carrying its own confidence.</a:t>
            </a:r>
          </a:p>
        </p:txBody>
      </p:sp>
      <p:cxnSp>
        <p:nvCxnSpPr>
          <p:cNvPr id="10" name="Connector 9"/>
          <p:cNvCxnSpPr/>
          <p:nvPr/>
        </p:nvCxnSpPr>
        <p:spPr>
          <a:xfrm>
            <a:off x="960120" y="3264408"/>
            <a:ext cx="48920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2148840"/>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0D9488"/>
                </a:solidFill>
                <a:latin typeface="Georgia"/>
              </a:rPr>
              <a:t>02</a:t>
            </a:r>
          </a:p>
        </p:txBody>
      </p:sp>
      <p:sp>
        <p:nvSpPr>
          <p:cNvPr id="12" name="TextBox 11"/>
          <p:cNvSpPr txBox="1"/>
          <p:nvPr/>
        </p:nvSpPr>
        <p:spPr>
          <a:xfrm>
            <a:off x="6949440" y="2167128"/>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CARE Engine</a:t>
            </a:r>
          </a:p>
        </p:txBody>
      </p:sp>
      <p:sp>
        <p:nvSpPr>
          <p:cNvPr id="13" name="TextBox 12"/>
          <p:cNvSpPr txBox="1"/>
          <p:nvPr/>
        </p:nvSpPr>
        <p:spPr>
          <a:xfrm>
            <a:off x="6949440" y="2532888"/>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Confidence-Aware Reasoning &amp; Escalation — routes each decision to the minimum sufficient AI reasoning path.</a:t>
            </a:r>
          </a:p>
        </p:txBody>
      </p:sp>
      <p:cxnSp>
        <p:nvCxnSpPr>
          <p:cNvPr id="14" name="Connector 13"/>
          <p:cNvCxnSpPr/>
          <p:nvPr/>
        </p:nvCxnSpPr>
        <p:spPr>
          <a:xfrm>
            <a:off x="6172200" y="3264408"/>
            <a:ext cx="48920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60120" y="3447288"/>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9333EA"/>
                </a:solidFill>
                <a:latin typeface="Georgia"/>
              </a:rPr>
              <a:t>03</a:t>
            </a:r>
          </a:p>
        </p:txBody>
      </p:sp>
      <p:sp>
        <p:nvSpPr>
          <p:cNvPr id="16" name="TextBox 15"/>
          <p:cNvSpPr txBox="1"/>
          <p:nvPr/>
        </p:nvSpPr>
        <p:spPr>
          <a:xfrm>
            <a:off x="1737360" y="3465576"/>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Career GraphRAG</a:t>
            </a:r>
          </a:p>
        </p:txBody>
      </p:sp>
      <p:sp>
        <p:nvSpPr>
          <p:cNvPr id="17" name="TextBox 16"/>
          <p:cNvSpPr txBox="1"/>
          <p:nvPr/>
        </p:nvSpPr>
        <p:spPr>
          <a:xfrm>
            <a:off x="1737360" y="3831336"/>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Root-cause analysis over a real knowledge graph of skills, concepts, questions, roles, and resources.</a:t>
            </a:r>
          </a:p>
        </p:txBody>
      </p:sp>
      <p:cxnSp>
        <p:nvCxnSpPr>
          <p:cNvPr id="18" name="Connector 17"/>
          <p:cNvCxnSpPr/>
          <p:nvPr/>
        </p:nvCxnSpPr>
        <p:spPr>
          <a:xfrm>
            <a:off x="960120" y="4562856"/>
            <a:ext cx="48920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72200" y="3447288"/>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06B6D4"/>
                </a:solidFill>
                <a:latin typeface="Georgia"/>
              </a:rPr>
              <a:t>04</a:t>
            </a:r>
          </a:p>
        </p:txBody>
      </p:sp>
      <p:sp>
        <p:nvSpPr>
          <p:cNvPr id="20" name="TextBox 19"/>
          <p:cNvSpPr txBox="1"/>
          <p:nvPr/>
        </p:nvSpPr>
        <p:spPr>
          <a:xfrm>
            <a:off x="6949440" y="3465576"/>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Autonomous Loop</a:t>
            </a:r>
          </a:p>
        </p:txBody>
      </p:sp>
      <p:sp>
        <p:nvSpPr>
          <p:cNvPr id="21" name="TextBox 20"/>
          <p:cNvSpPr txBox="1"/>
          <p:nvPr/>
        </p:nvSpPr>
        <p:spPr>
          <a:xfrm>
            <a:off x="6949440" y="3831336"/>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Observe → diagnose → plan → teach → assess → reflect → update the Twin, on repeat.</a:t>
            </a:r>
          </a:p>
        </p:txBody>
      </p:sp>
      <p:cxnSp>
        <p:nvCxnSpPr>
          <p:cNvPr id="22" name="Connector 21"/>
          <p:cNvCxnSpPr/>
          <p:nvPr/>
        </p:nvCxnSpPr>
        <p:spPr>
          <a:xfrm>
            <a:off x="6172200" y="4562856"/>
            <a:ext cx="48920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0120" y="4745736"/>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16A34A"/>
                </a:solidFill>
                <a:latin typeface="Georgia"/>
              </a:rPr>
              <a:t>05</a:t>
            </a:r>
          </a:p>
        </p:txBody>
      </p:sp>
      <p:sp>
        <p:nvSpPr>
          <p:cNvPr id="24" name="TextBox 23"/>
          <p:cNvSpPr txBox="1"/>
          <p:nvPr/>
        </p:nvSpPr>
        <p:spPr>
          <a:xfrm>
            <a:off x="1737360" y="4764024"/>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Interview Arena</a:t>
            </a:r>
          </a:p>
        </p:txBody>
      </p:sp>
      <p:sp>
        <p:nvSpPr>
          <p:cNvPr id="25" name="TextBox 24"/>
          <p:cNvSpPr txBox="1"/>
          <p:nvPr/>
        </p:nvSpPr>
        <p:spPr>
          <a:xfrm>
            <a:off x="1737360" y="5129784"/>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Voice interviews with specialist evaluation, scoring, and full replay.</a:t>
            </a:r>
          </a:p>
        </p:txBody>
      </p:sp>
      <p:sp>
        <p:nvSpPr>
          <p:cNvPr id="26" name="TextBox 25"/>
          <p:cNvSpPr txBox="1"/>
          <p:nvPr/>
        </p:nvSpPr>
        <p:spPr>
          <a:xfrm>
            <a:off x="6172200" y="4745736"/>
            <a:ext cx="777240" cy="548640"/>
          </a:xfrm>
          <a:prstGeom prst="rect">
            <a:avLst/>
          </a:prstGeom>
          <a:noFill/>
        </p:spPr>
        <p:txBody>
          <a:bodyPr wrap="square" anchor="t" lIns="0" rIns="0" tIns="0" bIns="0">
            <a:spAutoFit/>
          </a:bodyPr>
          <a:lstStyle/>
          <a:p>
            <a:pPr algn="l">
              <a:lnSpc>
                <a:spcPct val="100000"/>
              </a:lnSpc>
              <a:spcAft>
                <a:spcPts val="0"/>
              </a:spcAft>
            </a:pPr>
            <a:r>
              <a:rPr sz="2200" b="0" i="0">
                <a:solidFill>
                  <a:srgbClr val="D97706"/>
                </a:solidFill>
                <a:latin typeface="Georgia"/>
              </a:rPr>
              <a:t>06</a:t>
            </a:r>
          </a:p>
        </p:txBody>
      </p:sp>
      <p:sp>
        <p:nvSpPr>
          <p:cNvPr id="27" name="TextBox 26"/>
          <p:cNvSpPr txBox="1"/>
          <p:nvPr/>
        </p:nvSpPr>
        <p:spPr>
          <a:xfrm>
            <a:off x="6949440" y="4764024"/>
            <a:ext cx="4114800" cy="365760"/>
          </a:xfrm>
          <a:prstGeom prst="rect">
            <a:avLst/>
          </a:prstGeom>
          <a:noFill/>
        </p:spPr>
        <p:txBody>
          <a:bodyPr wrap="square" anchor="t" lIns="0" rIns="0" tIns="0" bIns="0">
            <a:spAutoFit/>
          </a:bodyPr>
          <a:lstStyle/>
          <a:p>
            <a:pPr algn="l">
              <a:lnSpc>
                <a:spcPct val="100000"/>
              </a:lnSpc>
              <a:spcAft>
                <a:spcPts val="0"/>
              </a:spcAft>
            </a:pPr>
            <a:r>
              <a:rPr sz="1500" b="1" i="0">
                <a:solidFill>
                  <a:srgbClr val="14121F"/>
                </a:solidFill>
                <a:latin typeface="Segoe UI"/>
              </a:rPr>
              <a:t>AI Trust Center</a:t>
            </a:r>
          </a:p>
        </p:txBody>
      </p:sp>
      <p:sp>
        <p:nvSpPr>
          <p:cNvPr id="28" name="TextBox 27"/>
          <p:cNvSpPr txBox="1"/>
          <p:nvPr/>
        </p:nvSpPr>
        <p:spPr>
          <a:xfrm>
            <a:off x="6949440" y="5129784"/>
            <a:ext cx="4114800" cy="868680"/>
          </a:xfrm>
          <a:prstGeom prst="rect">
            <a:avLst/>
          </a:prstGeom>
          <a:noFill/>
        </p:spPr>
        <p:txBody>
          <a:bodyPr wrap="square" anchor="t" lIns="0" rIns="0" tIns="0" bIns="0">
            <a:spAutoFit/>
          </a:bodyPr>
          <a:lstStyle/>
          <a:p>
            <a:pPr algn="l">
              <a:lnSpc>
                <a:spcPct val="125000"/>
              </a:lnSpc>
              <a:spcAft>
                <a:spcPts val="0"/>
              </a:spcAft>
            </a:pPr>
            <a:r>
              <a:rPr sz="1100" b="0" i="0">
                <a:solidFill>
                  <a:srgbClr val="666280"/>
                </a:solidFill>
                <a:latin typeface="Segoe UI"/>
              </a:rPr>
              <a:t>Every routing decision, agent run, and score change exposed with evidence and confidence.</a:t>
            </a:r>
          </a:p>
        </p:txBody>
      </p:sp>
      <p:sp>
        <p:nvSpPr>
          <p:cNvPr id="29" name="TextBox 28"/>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30" name="TextBox 29"/>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04</a:t>
            </a:r>
            <a:r>
              <a:rPr sz="900" b="0" i="0">
                <a:solidFill>
                  <a:srgbClr val="666280"/>
                </a:solidFill>
                <a:latin typeface="Segoe UI"/>
              </a:rPr>
              <a:t> / 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05</a:t>
            </a:r>
            <a:r>
              <a:rPr sz="1100" b="0" i="0" spc="140">
                <a:solidFill>
                  <a:srgbClr val="5B3DF6"/>
                </a:solidFill>
                <a:latin typeface="Segoe UI"/>
              </a:rPr>
              <a:t>   </a:t>
            </a:r>
            <a:r>
              <a:rPr sz="1100" b="1" i="0" spc="140">
                <a:solidFill>
                  <a:srgbClr val="666280"/>
                </a:solidFill>
                <a:latin typeface="Segoe UI"/>
              </a:rPr>
              <a:t>PRACTICE &amp; JOB INTELLIGENCE</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Everything a student practices on, in one place.</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Coding practice, resume quality, and the job search itself — all read from and write back to the same Twin.</a:t>
            </a:r>
          </a:p>
        </p:txBody>
      </p:sp>
      <p:cxnSp>
        <p:nvCxnSpPr>
          <p:cNvPr id="7" name="Connector 6"/>
          <p:cNvCxnSpPr/>
          <p:nvPr/>
        </p:nvCxnSpPr>
        <p:spPr>
          <a:xfrm>
            <a:off x="6263640" y="2057400"/>
            <a:ext cx="0" cy="3703320"/>
          </a:xfrm>
          <a:prstGeom prst="line">
            <a:avLst/>
          </a:prstGeom>
          <a:ln w="952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2057400"/>
            <a:ext cx="2743200" cy="274320"/>
          </a:xfrm>
          <a:prstGeom prst="rect">
            <a:avLst/>
          </a:prstGeom>
          <a:noFill/>
        </p:spPr>
        <p:txBody>
          <a:bodyPr wrap="square" anchor="t" lIns="0" rIns="0" tIns="0" bIns="0">
            <a:spAutoFit/>
          </a:bodyPr>
          <a:lstStyle/>
          <a:p>
            <a:pPr algn="l">
              <a:lnSpc>
                <a:spcPct val="100000"/>
              </a:lnSpc>
              <a:spcAft>
                <a:spcPts val="0"/>
              </a:spcAft>
            </a:pPr>
            <a:r>
              <a:rPr sz="1100" b="1" i="0" spc="130">
                <a:solidFill>
                  <a:srgbClr val="5B3DF6"/>
                </a:solidFill>
                <a:latin typeface="Segoe UI"/>
              </a:rPr>
              <a:t>PRACTICE</a:t>
            </a:r>
          </a:p>
        </p:txBody>
      </p:sp>
      <p:sp>
        <p:nvSpPr>
          <p:cNvPr id="9" name="TextBox 8"/>
          <p:cNvSpPr txBox="1"/>
          <p:nvPr/>
        </p:nvSpPr>
        <p:spPr>
          <a:xfrm>
            <a:off x="960120" y="2651760"/>
            <a:ext cx="498348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Adaptive Assessment Engine.  </a:t>
            </a:r>
            <a:r>
              <a:rPr sz="1200" b="0" i="0">
                <a:solidFill>
                  <a:srgbClr val="666280"/>
                </a:solidFill>
                <a:latin typeface="Segoe UI"/>
              </a:rPr>
              <a:t>Domain-matched SQL / Python questions with deterministic grading — the same evidence that feeds every Career Twin score.</a:t>
            </a:r>
          </a:p>
        </p:txBody>
      </p:sp>
      <p:cxnSp>
        <p:nvCxnSpPr>
          <p:cNvPr id="10" name="Connector 9"/>
          <p:cNvCxnSpPr/>
          <p:nvPr/>
        </p:nvCxnSpPr>
        <p:spPr>
          <a:xfrm>
            <a:off x="960120" y="3401568"/>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3493008"/>
            <a:ext cx="498348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Daily Goal.  </a:t>
            </a:r>
            <a:r>
              <a:rPr sz="1200" b="0" i="0">
                <a:solidFill>
                  <a:srgbClr val="666280"/>
                </a:solidFill>
                <a:latin typeface="Segoe UI"/>
              </a:rPr>
              <a:t>A free-text placement goal (“I want Microsoft”) deterministically maps to a fixed set of practice questions each day.</a:t>
            </a:r>
          </a:p>
        </p:txBody>
      </p:sp>
      <p:cxnSp>
        <p:nvCxnSpPr>
          <p:cNvPr id="12" name="Connector 11"/>
          <p:cNvCxnSpPr/>
          <p:nvPr/>
        </p:nvCxnSpPr>
        <p:spPr>
          <a:xfrm>
            <a:off x="960120" y="4242816"/>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60120" y="4334256"/>
            <a:ext cx="498348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LeetCode Progress + Recommendations.  </a:t>
            </a:r>
            <a:r>
              <a:rPr sz="1200" b="0" i="0">
                <a:solidFill>
                  <a:srgbClr val="666280"/>
                </a:solidFill>
                <a:latin typeface="Segoe UI"/>
              </a:rPr>
              <a:t>Live completion tracking, with problems recommended from the student's own weakest concepts — not a generic list.</a:t>
            </a:r>
          </a:p>
        </p:txBody>
      </p:sp>
      <p:cxnSp>
        <p:nvCxnSpPr>
          <p:cNvPr id="14" name="Connector 13"/>
          <p:cNvCxnSpPr/>
          <p:nvPr/>
        </p:nvCxnSpPr>
        <p:spPr>
          <a:xfrm>
            <a:off x="960120" y="5084064"/>
            <a:ext cx="498348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60120" y="5175504"/>
            <a:ext cx="498348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GitHub Profile Tracking.  </a:t>
            </a:r>
            <a:r>
              <a:rPr sz="1200" b="0" i="0">
                <a:solidFill>
                  <a:srgbClr val="666280"/>
                </a:solidFill>
                <a:latin typeface="Segoe UI"/>
              </a:rPr>
              <a:t>Repository and contribution activity pulled in as portfolio evidence on the Career Twin.</a:t>
            </a:r>
          </a:p>
        </p:txBody>
      </p:sp>
      <p:sp>
        <p:nvSpPr>
          <p:cNvPr id="16" name="TextBox 15"/>
          <p:cNvSpPr txBox="1"/>
          <p:nvPr/>
        </p:nvSpPr>
        <p:spPr>
          <a:xfrm>
            <a:off x="6583680" y="2057400"/>
            <a:ext cx="2743200" cy="274320"/>
          </a:xfrm>
          <a:prstGeom prst="rect">
            <a:avLst/>
          </a:prstGeom>
          <a:noFill/>
        </p:spPr>
        <p:txBody>
          <a:bodyPr wrap="square" anchor="t" lIns="0" rIns="0" tIns="0" bIns="0">
            <a:spAutoFit/>
          </a:bodyPr>
          <a:lstStyle/>
          <a:p>
            <a:pPr algn="l">
              <a:lnSpc>
                <a:spcPct val="100000"/>
              </a:lnSpc>
              <a:spcAft>
                <a:spcPts val="0"/>
              </a:spcAft>
            </a:pPr>
            <a:r>
              <a:rPr sz="1100" b="1" i="0" spc="130">
                <a:solidFill>
                  <a:srgbClr val="0D9488"/>
                </a:solidFill>
                <a:latin typeface="Segoe UI"/>
              </a:rPr>
              <a:t>JOB INTELLIGENCE</a:t>
            </a:r>
          </a:p>
        </p:txBody>
      </p:sp>
      <p:sp>
        <p:nvSpPr>
          <p:cNvPr id="17" name="TextBox 16"/>
          <p:cNvSpPr txBox="1"/>
          <p:nvPr/>
        </p:nvSpPr>
        <p:spPr>
          <a:xfrm>
            <a:off x="6583680" y="2651760"/>
            <a:ext cx="512064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Resume Analysis &amp; Rewrite.  </a:t>
            </a:r>
            <a:r>
              <a:rPr sz="1200" b="0" i="0">
                <a:solidFill>
                  <a:srgbClr val="666280"/>
                </a:solidFill>
                <a:latin typeface="Segoe UI"/>
              </a:rPr>
              <a:t>Bullet-level evidence-strength grading, an ATS parseability check, and evidence-only rewrite suggestions for weak or missing skills.</a:t>
            </a:r>
          </a:p>
        </p:txBody>
      </p:sp>
      <p:cxnSp>
        <p:nvCxnSpPr>
          <p:cNvPr id="18" name="Connector 17"/>
          <p:cNvCxnSpPr/>
          <p:nvPr/>
        </p:nvCxnSpPr>
        <p:spPr>
          <a:xfrm>
            <a:off x="6583680" y="3401568"/>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0" y="3493008"/>
            <a:ext cx="512064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Job Description Matching.  </a:t>
            </a:r>
            <a:r>
              <a:rPr sz="1200" b="0" i="0">
                <a:solidFill>
                  <a:srgbClr val="666280"/>
                </a:solidFill>
                <a:latin typeface="Segoe UI"/>
              </a:rPr>
              <a:t>Deterministic requirement extraction against the seeded skill taxonomy, shared with onboarding and resume parsing.</a:t>
            </a:r>
          </a:p>
        </p:txBody>
      </p:sp>
      <p:cxnSp>
        <p:nvCxnSpPr>
          <p:cNvPr id="20" name="Connector 19"/>
          <p:cNvCxnSpPr/>
          <p:nvPr/>
        </p:nvCxnSpPr>
        <p:spPr>
          <a:xfrm>
            <a:off x="6583680" y="4242816"/>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83680" y="4334256"/>
            <a:ext cx="512064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Job Roadmap.  </a:t>
            </a:r>
            <a:r>
              <a:rPr sz="1200" b="0" i="0">
                <a:solidFill>
                  <a:srgbClr val="666280"/>
                </a:solidFill>
                <a:latin typeface="Segoe UI"/>
              </a:rPr>
              <a:t>A week-by-week plan to close the real gap for a dream role, wired to Assessment, Interview Arena, and GraphRAG.</a:t>
            </a:r>
          </a:p>
        </p:txBody>
      </p:sp>
      <p:cxnSp>
        <p:nvCxnSpPr>
          <p:cNvPr id="22" name="Connector 21"/>
          <p:cNvCxnSpPr/>
          <p:nvPr/>
        </p:nvCxnSpPr>
        <p:spPr>
          <a:xfrm>
            <a:off x="6583680" y="5084064"/>
            <a:ext cx="512064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83680" y="5175504"/>
            <a:ext cx="5120640" cy="749808"/>
          </a:xfrm>
          <a:prstGeom prst="rect">
            <a:avLst/>
          </a:prstGeom>
          <a:noFill/>
        </p:spPr>
        <p:txBody>
          <a:bodyPr wrap="square" anchor="t" lIns="0" rIns="0" tIns="0" bIns="0">
            <a:spAutoFit/>
          </a:bodyPr>
          <a:lstStyle/>
          <a:p>
            <a:pPr algn="l">
              <a:lnSpc>
                <a:spcPct val="120000"/>
              </a:lnSpc>
              <a:spcAft>
                <a:spcPts val="0"/>
              </a:spcAft>
            </a:pPr>
            <a:r>
              <a:rPr sz="1200" b="1" i="0">
                <a:solidFill>
                  <a:srgbClr val="14121F"/>
                </a:solidFill>
                <a:latin typeface="Segoe UI"/>
              </a:rPr>
              <a:t>Live Jobs + Recruiter Card.  </a:t>
            </a:r>
            <a:r>
              <a:rPr sz="1200" b="0" i="0">
                <a:solidFill>
                  <a:srgbClr val="666280"/>
                </a:solidFill>
                <a:latin typeface="Segoe UI"/>
              </a:rPr>
              <a:t>Live job listings, plus a one-page evidence-scored recruiter card — never a hiring probability, opt-in only.</a:t>
            </a:r>
          </a:p>
        </p:txBody>
      </p:sp>
      <p:sp>
        <p:nvSpPr>
          <p:cNvPr id="24" name="TextBox 23"/>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25" name="TextBox 24"/>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05</a:t>
            </a:r>
            <a:r>
              <a:rPr sz="900" b="0" i="0">
                <a:solidFill>
                  <a:srgbClr val="666280"/>
                </a:solidFill>
                <a:latin typeface="Segoe UI"/>
              </a:rPr>
              <a:t> / 09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06</a:t>
            </a:r>
            <a:r>
              <a:rPr sz="1100" b="0" i="0" spc="140">
                <a:solidFill>
                  <a:srgbClr val="5B3DF6"/>
                </a:solidFill>
                <a:latin typeface="Segoe UI"/>
              </a:rPr>
              <a:t>   </a:t>
            </a:r>
            <a:r>
              <a:rPr sz="1100" b="1" i="0" spc="140">
                <a:solidFill>
                  <a:srgbClr val="666280"/>
                </a:solidFill>
                <a:latin typeface="Segoe UI"/>
              </a:rPr>
              <a:t>SIMULATION, RESEARCH &amp; GOVERNANCE</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What the system won't hide from you.</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The parts most AI products would rather you not ask about — shown here on purpose.</a:t>
            </a:r>
          </a:p>
        </p:txBody>
      </p:sp>
      <p:sp>
        <p:nvSpPr>
          <p:cNvPr id="7" name="Rectangle 6"/>
          <p:cNvSpPr/>
          <p:nvPr/>
        </p:nvSpPr>
        <p:spPr>
          <a:xfrm>
            <a:off x="960120" y="2185416"/>
            <a:ext cx="38100" cy="45720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167128"/>
            <a:ext cx="9875520" cy="640080"/>
          </a:xfrm>
          <a:prstGeom prst="rect">
            <a:avLst/>
          </a:prstGeom>
          <a:noFill/>
        </p:spPr>
        <p:txBody>
          <a:bodyPr wrap="square" anchor="t" lIns="0" rIns="0" tIns="0" bIns="0">
            <a:spAutoFit/>
          </a:bodyPr>
          <a:lstStyle/>
          <a:p>
            <a:pPr algn="l">
              <a:lnSpc>
                <a:spcPct val="120000"/>
              </a:lnSpc>
              <a:spcAft>
                <a:spcPts val="0"/>
              </a:spcAft>
            </a:pPr>
            <a:r>
              <a:rPr sz="1300" b="1" i="0">
                <a:solidFill>
                  <a:srgbClr val="14121F"/>
                </a:solidFill>
                <a:latin typeface="Segoe UI"/>
              </a:rPr>
              <a:t>Career Experiment Lab.  </a:t>
            </a:r>
            <a:r>
              <a:rPr sz="1300" b="0" i="0">
                <a:solidFill>
                  <a:srgbClr val="666280"/>
                </a:solidFill>
                <a:latin typeface="Segoe UI"/>
              </a:rPr>
              <a:t>Turns a what-if scenario into a persisted, deterministic simulation result — an AI agent only restates the outcome in prose, never computes it.</a:t>
            </a:r>
          </a:p>
        </p:txBody>
      </p:sp>
      <p:cxnSp>
        <p:nvCxnSpPr>
          <p:cNvPr id="9" name="Connector 8"/>
          <p:cNvCxnSpPr/>
          <p:nvPr/>
        </p:nvCxnSpPr>
        <p:spPr>
          <a:xfrm>
            <a:off x="960120" y="2807208"/>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60120" y="2935224"/>
            <a:ext cx="38100"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2916936"/>
            <a:ext cx="9875520" cy="640080"/>
          </a:xfrm>
          <a:prstGeom prst="rect">
            <a:avLst/>
          </a:prstGeom>
          <a:noFill/>
        </p:spPr>
        <p:txBody>
          <a:bodyPr wrap="square" anchor="t" lIns="0" rIns="0" tIns="0" bIns="0">
            <a:spAutoFit/>
          </a:bodyPr>
          <a:lstStyle/>
          <a:p>
            <a:pPr algn="l">
              <a:lnSpc>
                <a:spcPct val="120000"/>
              </a:lnSpc>
              <a:spcAft>
                <a:spcPts val="0"/>
              </a:spcAft>
            </a:pPr>
            <a:r>
              <a:rPr sz="1300" b="1" i="0">
                <a:solidFill>
                  <a:srgbClr val="14121F"/>
                </a:solidFill>
                <a:latin typeface="Segoe UI"/>
              </a:rPr>
              <a:t>Research Benchmark Lab.  </a:t>
            </a:r>
            <a:r>
              <a:rPr sz="1300" b="0" i="0">
                <a:solidFill>
                  <a:srgbClr val="666280"/>
                </a:solidFill>
                <a:latin typeface="Segoe UI"/>
              </a:rPr>
              <a:t>Re-runs real ablation experiments live — architecture and retrieval-strategy comparisons, including disclosed negative results.</a:t>
            </a:r>
          </a:p>
        </p:txBody>
      </p:sp>
      <p:cxnSp>
        <p:nvCxnSpPr>
          <p:cNvPr id="12" name="Connector 11"/>
          <p:cNvCxnSpPr/>
          <p:nvPr/>
        </p:nvCxnSpPr>
        <p:spPr>
          <a:xfrm>
            <a:off x="960120" y="3557016"/>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60120" y="3685032"/>
            <a:ext cx="38100" cy="457200"/>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666744"/>
            <a:ext cx="9875520" cy="640080"/>
          </a:xfrm>
          <a:prstGeom prst="rect">
            <a:avLst/>
          </a:prstGeom>
          <a:noFill/>
        </p:spPr>
        <p:txBody>
          <a:bodyPr wrap="square" anchor="t" lIns="0" rIns="0" tIns="0" bIns="0">
            <a:spAutoFit/>
          </a:bodyPr>
          <a:lstStyle/>
          <a:p>
            <a:pPr algn="l">
              <a:lnSpc>
                <a:spcPct val="120000"/>
              </a:lnSpc>
              <a:spcAft>
                <a:spcPts val="0"/>
              </a:spcAft>
            </a:pPr>
            <a:r>
              <a:rPr sz="1300" b="1" i="0">
                <a:solidFill>
                  <a:srgbClr val="14121F"/>
                </a:solidFill>
                <a:latin typeface="Segoe UI"/>
              </a:rPr>
              <a:t>Responsible AI Center.  </a:t>
            </a:r>
            <a:r>
              <a:rPr sz="1300" b="0" i="0">
                <a:solidFill>
                  <a:srgbClr val="666280"/>
                </a:solidFill>
                <a:latin typeface="Segoe UI"/>
              </a:rPr>
              <a:t>States exactly what the system evaluates and doesn't, plus model/formula/policy versions and self-service export &amp; deletion controls.</a:t>
            </a:r>
          </a:p>
        </p:txBody>
      </p:sp>
      <p:cxnSp>
        <p:nvCxnSpPr>
          <p:cNvPr id="15" name="Connector 14"/>
          <p:cNvCxnSpPr/>
          <p:nvPr/>
        </p:nvCxnSpPr>
        <p:spPr>
          <a:xfrm>
            <a:off x="960120" y="4306824"/>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60120" y="4434840"/>
            <a:ext cx="38100" cy="4572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16552"/>
            <a:ext cx="9875520" cy="640080"/>
          </a:xfrm>
          <a:prstGeom prst="rect">
            <a:avLst/>
          </a:prstGeom>
          <a:noFill/>
        </p:spPr>
        <p:txBody>
          <a:bodyPr wrap="square" anchor="t" lIns="0" rIns="0" tIns="0" bIns="0">
            <a:spAutoFit/>
          </a:bodyPr>
          <a:lstStyle/>
          <a:p>
            <a:pPr algn="l">
              <a:lnSpc>
                <a:spcPct val="120000"/>
              </a:lnSpc>
              <a:spcAft>
                <a:spcPts val="0"/>
              </a:spcAft>
            </a:pPr>
            <a:r>
              <a:rPr sz="1300" b="1" i="0">
                <a:solidFill>
                  <a:srgbClr val="14121F"/>
                </a:solidFill>
                <a:latin typeface="Segoe UI"/>
              </a:rPr>
              <a:t>Audit Trail.  </a:t>
            </a:r>
            <a:r>
              <a:rPr sz="1300" b="0" i="0">
                <a:solidFill>
                  <a:srgbClr val="666280"/>
                </a:solidFill>
                <a:latin typeface="Segoe UI"/>
              </a:rPr>
              <a:t>Every consequential action logged and queryable by the student it belongs to.</a:t>
            </a:r>
          </a:p>
        </p:txBody>
      </p:sp>
      <p:cxnSp>
        <p:nvCxnSpPr>
          <p:cNvPr id="18" name="Connector 17"/>
          <p:cNvCxnSpPr/>
          <p:nvPr/>
        </p:nvCxnSpPr>
        <p:spPr>
          <a:xfrm>
            <a:off x="960120" y="5056632"/>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60120" y="5184648"/>
            <a:ext cx="38100"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66360"/>
            <a:ext cx="9875520" cy="640080"/>
          </a:xfrm>
          <a:prstGeom prst="rect">
            <a:avLst/>
          </a:prstGeom>
          <a:noFill/>
        </p:spPr>
        <p:txBody>
          <a:bodyPr wrap="square" anchor="t" lIns="0" rIns="0" tIns="0" bIns="0">
            <a:spAutoFit/>
          </a:bodyPr>
          <a:lstStyle/>
          <a:p>
            <a:pPr algn="l">
              <a:lnSpc>
                <a:spcPct val="120000"/>
              </a:lnSpc>
              <a:spcAft>
                <a:spcPts val="0"/>
              </a:spcAft>
            </a:pPr>
            <a:r>
              <a:rPr sz="1300" b="1" i="0">
                <a:solidFill>
                  <a:srgbClr val="14121F"/>
                </a:solidFill>
                <a:latin typeface="Segoe UI"/>
              </a:rPr>
              <a:t>Role-Based Portals.  </a:t>
            </a:r>
            <a:r>
              <a:rPr sz="1300" b="0" i="0">
                <a:solidFill>
                  <a:srgbClr val="666280"/>
                </a:solidFill>
                <a:latin typeface="Segoe UI"/>
              </a:rPr>
              <a:t>Faculty, Placement, Recruiter, and Admin dashboards — cohort-level aggregates only, never a per-student leaderboard or hiring score.</a:t>
            </a:r>
          </a:p>
        </p:txBody>
      </p:sp>
      <p:sp>
        <p:nvSpPr>
          <p:cNvPr id="21" name="TextBox 20"/>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22" name="TextBox 21"/>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06</a:t>
            </a:r>
            <a:r>
              <a:rPr sz="900" b="0" i="0">
                <a:solidFill>
                  <a:srgbClr val="666280"/>
                </a:solidFill>
                <a:latin typeface="Segoe UI"/>
              </a:rPr>
              <a:t> / 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07</a:t>
            </a:r>
            <a:r>
              <a:rPr sz="1100" b="0" i="0" spc="140">
                <a:solidFill>
                  <a:srgbClr val="5B3DF6"/>
                </a:solidFill>
                <a:latin typeface="Segoe UI"/>
              </a:rPr>
              <a:t>   </a:t>
            </a:r>
            <a:r>
              <a:rPr sz="1100" b="1" i="0" spc="140">
                <a:solidFill>
                  <a:srgbClr val="666280"/>
                </a:solidFill>
                <a:latin typeface="Segoe UI"/>
              </a:rPr>
              <a:t>TECHNOLOGY STACK</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A conventional stack, with original AI logic.</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Boring, proven infrastructure by choice — every hour of original work goes into the reasoning layer on top of it.</a:t>
            </a:r>
          </a:p>
        </p:txBody>
      </p:sp>
      <p:sp>
        <p:nvSpPr>
          <p:cNvPr id="7" name="Rectangle 6"/>
          <p:cNvSpPr/>
          <p:nvPr/>
        </p:nvSpPr>
        <p:spPr>
          <a:xfrm>
            <a:off x="960120" y="2103120"/>
            <a:ext cx="502920" cy="28575"/>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249424"/>
            <a:ext cx="2157984" cy="365760"/>
          </a:xfrm>
          <a:prstGeom prst="rect">
            <a:avLst/>
          </a:prstGeom>
          <a:noFill/>
        </p:spPr>
        <p:txBody>
          <a:bodyPr wrap="square" anchor="t" lIns="0" rIns="0" tIns="0" bIns="0">
            <a:spAutoFit/>
          </a:bodyPr>
          <a:lstStyle/>
          <a:p>
            <a:pPr algn="l">
              <a:lnSpc>
                <a:spcPct val="100000"/>
              </a:lnSpc>
              <a:spcAft>
                <a:spcPts val="0"/>
              </a:spcAft>
            </a:pPr>
            <a:r>
              <a:rPr sz="1200" b="1" i="0" spc="60">
                <a:solidFill>
                  <a:srgbClr val="14121F"/>
                </a:solidFill>
                <a:latin typeface="Segoe UI"/>
              </a:rPr>
              <a:t>FRONTEND</a:t>
            </a:r>
          </a:p>
        </p:txBody>
      </p:sp>
      <p:sp>
        <p:nvSpPr>
          <p:cNvPr id="9" name="TextBox 8"/>
          <p:cNvSpPr txBox="1"/>
          <p:nvPr/>
        </p:nvSpPr>
        <p:spPr>
          <a:xfrm>
            <a:off x="960120" y="2761488"/>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Next.js 16 / React 19</a:t>
            </a:r>
          </a:p>
        </p:txBody>
      </p:sp>
      <p:sp>
        <p:nvSpPr>
          <p:cNvPr id="10" name="TextBox 9"/>
          <p:cNvSpPr txBox="1"/>
          <p:nvPr/>
        </p:nvSpPr>
        <p:spPr>
          <a:xfrm>
            <a:off x="960120" y="3328416"/>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TypeScript</a:t>
            </a:r>
          </a:p>
        </p:txBody>
      </p:sp>
      <p:sp>
        <p:nvSpPr>
          <p:cNvPr id="11" name="TextBox 10"/>
          <p:cNvSpPr txBox="1"/>
          <p:nvPr/>
        </p:nvSpPr>
        <p:spPr>
          <a:xfrm>
            <a:off x="960120" y="3895344"/>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TailwindCSS</a:t>
            </a:r>
          </a:p>
        </p:txBody>
      </p:sp>
      <p:sp>
        <p:nvSpPr>
          <p:cNvPr id="12" name="TextBox 11"/>
          <p:cNvSpPr txBox="1"/>
          <p:nvPr/>
        </p:nvSpPr>
        <p:spPr>
          <a:xfrm>
            <a:off x="960120" y="4462272"/>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Recharts, Framer Motion</a:t>
            </a:r>
          </a:p>
        </p:txBody>
      </p:sp>
      <p:cxnSp>
        <p:nvCxnSpPr>
          <p:cNvPr id="13" name="Connector 12"/>
          <p:cNvCxnSpPr/>
          <p:nvPr/>
        </p:nvCxnSpPr>
        <p:spPr>
          <a:xfrm>
            <a:off x="3310128" y="2103120"/>
            <a:ext cx="0" cy="329184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2424" y="2103120"/>
            <a:ext cx="502920" cy="28575"/>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92424" y="2249424"/>
            <a:ext cx="2157984" cy="365760"/>
          </a:xfrm>
          <a:prstGeom prst="rect">
            <a:avLst/>
          </a:prstGeom>
          <a:noFill/>
        </p:spPr>
        <p:txBody>
          <a:bodyPr wrap="square" anchor="t" lIns="0" rIns="0" tIns="0" bIns="0">
            <a:spAutoFit/>
          </a:bodyPr>
          <a:lstStyle/>
          <a:p>
            <a:pPr algn="l">
              <a:lnSpc>
                <a:spcPct val="100000"/>
              </a:lnSpc>
              <a:spcAft>
                <a:spcPts val="0"/>
              </a:spcAft>
            </a:pPr>
            <a:r>
              <a:rPr sz="1200" b="1" i="0" spc="60">
                <a:solidFill>
                  <a:srgbClr val="14121F"/>
                </a:solidFill>
                <a:latin typeface="Segoe UI"/>
              </a:rPr>
              <a:t>BACKEND</a:t>
            </a:r>
          </a:p>
        </p:txBody>
      </p:sp>
      <p:sp>
        <p:nvSpPr>
          <p:cNvPr id="16" name="TextBox 15"/>
          <p:cNvSpPr txBox="1"/>
          <p:nvPr/>
        </p:nvSpPr>
        <p:spPr>
          <a:xfrm>
            <a:off x="3392424" y="2761488"/>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FastAPI (Python 3.10+)</a:t>
            </a:r>
          </a:p>
        </p:txBody>
      </p:sp>
      <p:sp>
        <p:nvSpPr>
          <p:cNvPr id="17" name="TextBox 16"/>
          <p:cNvSpPr txBox="1"/>
          <p:nvPr/>
        </p:nvSpPr>
        <p:spPr>
          <a:xfrm>
            <a:off x="3392424" y="3328416"/>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SQLAlchemy + Alembic</a:t>
            </a:r>
          </a:p>
        </p:txBody>
      </p:sp>
      <p:sp>
        <p:nvSpPr>
          <p:cNvPr id="18" name="TextBox 17"/>
          <p:cNvSpPr txBox="1"/>
          <p:nvPr/>
        </p:nvSpPr>
        <p:spPr>
          <a:xfrm>
            <a:off x="3392424" y="3895344"/>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JWT auth + bcrypt</a:t>
            </a:r>
          </a:p>
        </p:txBody>
      </p:sp>
      <p:sp>
        <p:nvSpPr>
          <p:cNvPr id="19" name="TextBox 18"/>
          <p:cNvSpPr txBox="1"/>
          <p:nvPr/>
        </p:nvSpPr>
        <p:spPr>
          <a:xfrm>
            <a:off x="3392424" y="4462272"/>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Docker Compose</a:t>
            </a:r>
          </a:p>
        </p:txBody>
      </p:sp>
      <p:cxnSp>
        <p:nvCxnSpPr>
          <p:cNvPr id="20" name="Connector 19"/>
          <p:cNvCxnSpPr/>
          <p:nvPr/>
        </p:nvCxnSpPr>
        <p:spPr>
          <a:xfrm>
            <a:off x="5742432" y="2103120"/>
            <a:ext cx="0" cy="329184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824728" y="2103120"/>
            <a:ext cx="502920" cy="28575"/>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24728" y="2249424"/>
            <a:ext cx="2157984" cy="365760"/>
          </a:xfrm>
          <a:prstGeom prst="rect">
            <a:avLst/>
          </a:prstGeom>
          <a:noFill/>
        </p:spPr>
        <p:txBody>
          <a:bodyPr wrap="square" anchor="t" lIns="0" rIns="0" tIns="0" bIns="0">
            <a:spAutoFit/>
          </a:bodyPr>
          <a:lstStyle/>
          <a:p>
            <a:pPr algn="l">
              <a:lnSpc>
                <a:spcPct val="100000"/>
              </a:lnSpc>
              <a:spcAft>
                <a:spcPts val="0"/>
              </a:spcAft>
            </a:pPr>
            <a:r>
              <a:rPr sz="1200" b="1" i="0" spc="60">
                <a:solidFill>
                  <a:srgbClr val="14121F"/>
                </a:solidFill>
                <a:latin typeface="Segoe UI"/>
              </a:rPr>
              <a:t>DATA</a:t>
            </a:r>
          </a:p>
        </p:txBody>
      </p:sp>
      <p:sp>
        <p:nvSpPr>
          <p:cNvPr id="23" name="TextBox 22"/>
          <p:cNvSpPr txBox="1"/>
          <p:nvPr/>
        </p:nvSpPr>
        <p:spPr>
          <a:xfrm>
            <a:off x="5824728" y="2761488"/>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PostgreSQL + pgvector</a:t>
            </a:r>
          </a:p>
        </p:txBody>
      </p:sp>
      <p:sp>
        <p:nvSpPr>
          <p:cNvPr id="24" name="TextBox 23"/>
          <p:cNvSpPr txBox="1"/>
          <p:nvPr/>
        </p:nvSpPr>
        <p:spPr>
          <a:xfrm>
            <a:off x="5824728" y="3328416"/>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Neo4j knowledge graph</a:t>
            </a:r>
          </a:p>
        </p:txBody>
      </p:sp>
      <p:sp>
        <p:nvSpPr>
          <p:cNvPr id="25" name="TextBox 24"/>
          <p:cNvSpPr txBox="1"/>
          <p:nvPr/>
        </p:nvSpPr>
        <p:spPr>
          <a:xfrm>
            <a:off x="5824728" y="3895344"/>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Redis cache / rate-limit</a:t>
            </a:r>
          </a:p>
        </p:txBody>
      </p:sp>
      <p:sp>
        <p:nvSpPr>
          <p:cNvPr id="26" name="TextBox 25"/>
          <p:cNvSpPr txBox="1"/>
          <p:nvPr/>
        </p:nvSpPr>
        <p:spPr>
          <a:xfrm>
            <a:off x="5824728" y="4462272"/>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Object storage</a:t>
            </a:r>
          </a:p>
        </p:txBody>
      </p:sp>
      <p:cxnSp>
        <p:nvCxnSpPr>
          <p:cNvPr id="27" name="Connector 26"/>
          <p:cNvCxnSpPr/>
          <p:nvPr/>
        </p:nvCxnSpPr>
        <p:spPr>
          <a:xfrm>
            <a:off x="8174736" y="2103120"/>
            <a:ext cx="0" cy="329184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257032" y="2103120"/>
            <a:ext cx="502920" cy="28575"/>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7032" y="2249424"/>
            <a:ext cx="2157984" cy="365760"/>
          </a:xfrm>
          <a:prstGeom prst="rect">
            <a:avLst/>
          </a:prstGeom>
          <a:noFill/>
        </p:spPr>
        <p:txBody>
          <a:bodyPr wrap="square" anchor="t" lIns="0" rIns="0" tIns="0" bIns="0">
            <a:spAutoFit/>
          </a:bodyPr>
          <a:lstStyle/>
          <a:p>
            <a:pPr algn="l">
              <a:lnSpc>
                <a:spcPct val="100000"/>
              </a:lnSpc>
              <a:spcAft>
                <a:spcPts val="0"/>
              </a:spcAft>
            </a:pPr>
            <a:r>
              <a:rPr sz="1200" b="1" i="0" spc="60">
                <a:solidFill>
                  <a:srgbClr val="14121F"/>
                </a:solidFill>
                <a:latin typeface="Segoe UI"/>
              </a:rPr>
              <a:t>AI / REASONING</a:t>
            </a:r>
          </a:p>
        </p:txBody>
      </p:sp>
      <p:sp>
        <p:nvSpPr>
          <p:cNvPr id="30" name="TextBox 29"/>
          <p:cNvSpPr txBox="1"/>
          <p:nvPr/>
        </p:nvSpPr>
        <p:spPr>
          <a:xfrm>
            <a:off x="8257032" y="2761488"/>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CARE routing policy</a:t>
            </a:r>
          </a:p>
        </p:txBody>
      </p:sp>
      <p:sp>
        <p:nvSpPr>
          <p:cNvPr id="31" name="TextBox 30"/>
          <p:cNvSpPr txBox="1"/>
          <p:nvPr/>
        </p:nvSpPr>
        <p:spPr>
          <a:xfrm>
            <a:off x="8257032" y="3328416"/>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10 specialist agents</a:t>
            </a:r>
          </a:p>
        </p:txBody>
      </p:sp>
      <p:sp>
        <p:nvSpPr>
          <p:cNvPr id="32" name="TextBox 31"/>
          <p:cNvSpPr txBox="1"/>
          <p:nvPr/>
        </p:nvSpPr>
        <p:spPr>
          <a:xfrm>
            <a:off x="8257032" y="3895344"/>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Hybrid vector + graph retrieval</a:t>
            </a:r>
          </a:p>
        </p:txBody>
      </p:sp>
      <p:sp>
        <p:nvSpPr>
          <p:cNvPr id="33" name="TextBox 32"/>
          <p:cNvSpPr txBox="1"/>
          <p:nvPr/>
        </p:nvSpPr>
        <p:spPr>
          <a:xfrm>
            <a:off x="8257032" y="4462272"/>
            <a:ext cx="2157984" cy="502920"/>
          </a:xfrm>
          <a:prstGeom prst="rect">
            <a:avLst/>
          </a:prstGeom>
          <a:noFill/>
        </p:spPr>
        <p:txBody>
          <a:bodyPr wrap="square" anchor="t" lIns="0" rIns="0" tIns="0" bIns="0">
            <a:spAutoFit/>
          </a:bodyPr>
          <a:lstStyle/>
          <a:p>
            <a:pPr algn="l">
              <a:lnSpc>
                <a:spcPct val="115000"/>
              </a:lnSpc>
              <a:spcAft>
                <a:spcPts val="0"/>
              </a:spcAft>
            </a:pPr>
            <a:r>
              <a:rPr sz="1150" b="0" i="0">
                <a:solidFill>
                  <a:srgbClr val="666280"/>
                </a:solidFill>
                <a:latin typeface="Segoe UI"/>
              </a:rPr>
              <a:t>Versioned scoring &amp; simulation</a:t>
            </a:r>
          </a:p>
        </p:txBody>
      </p:sp>
      <p:cxnSp>
        <p:nvCxnSpPr>
          <p:cNvPr id="34" name="Connector 33"/>
          <p:cNvCxnSpPr/>
          <p:nvPr/>
        </p:nvCxnSpPr>
        <p:spPr>
          <a:xfrm>
            <a:off x="960120" y="5532120"/>
            <a:ext cx="10104120" cy="0"/>
          </a:xfrm>
          <a:prstGeom prst="line">
            <a:avLst/>
          </a:prstGeom>
          <a:ln w="952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0120" y="5715000"/>
            <a:ext cx="10104120" cy="822960"/>
          </a:xfrm>
          <a:prstGeom prst="rect">
            <a:avLst/>
          </a:prstGeom>
          <a:noFill/>
        </p:spPr>
        <p:txBody>
          <a:bodyPr wrap="square" anchor="t" lIns="0" rIns="0" tIns="0" bIns="0">
            <a:spAutoFit/>
          </a:bodyPr>
          <a:lstStyle/>
          <a:p>
            <a:pPr algn="l">
              <a:lnSpc>
                <a:spcPct val="135000"/>
              </a:lnSpc>
              <a:spcAft>
                <a:spcPts val="0"/>
              </a:spcAft>
            </a:pPr>
            <a:r>
              <a:rPr sz="1200" b="0" i="0">
                <a:solidFill>
                  <a:srgbClr val="666280"/>
                </a:solidFill>
                <a:latin typeface="Segoe UI"/>
              </a:rPr>
              <a:t>Evidence-only by construction — one function writes a readiness score, and no agent can call it directly. The AI layer is provider-neutral: a deterministic default runs fully offline, with a live Anthropic adapter swappable without touching calling code.</a:t>
            </a:r>
          </a:p>
        </p:txBody>
      </p:sp>
      <p:sp>
        <p:nvSpPr>
          <p:cNvPr id="36" name="TextBox 35"/>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37" name="TextBox 36"/>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07</a:t>
            </a:r>
            <a:r>
              <a:rPr sz="900" b="0" i="0">
                <a:solidFill>
                  <a:srgbClr val="666280"/>
                </a:solidFill>
                <a:latin typeface="Segoe UI"/>
              </a:rPr>
              <a:t>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08</a:t>
            </a:r>
            <a:r>
              <a:rPr sz="1100" b="0" i="0" spc="140">
                <a:solidFill>
                  <a:srgbClr val="5B3DF6"/>
                </a:solidFill>
                <a:latin typeface="Segoe UI"/>
              </a:rPr>
              <a:t>   </a:t>
            </a:r>
            <a:r>
              <a:rPr sz="1100" b="1" i="0" spc="140">
                <a:solidFill>
                  <a:srgbClr val="666280"/>
                </a:solidFill>
                <a:latin typeface="Segoe UI"/>
              </a:rPr>
              <a:t>IMPACT &amp; PROOF POINTS</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200" b="0" i="0">
                <a:solidFill>
                  <a:srgbClr val="14121F"/>
                </a:solidFill>
                <a:latin typeface="Georgia"/>
              </a:rPr>
              <a:t>Claims backed by numbers, not slides.</a:t>
            </a:r>
          </a:p>
        </p:txBody>
      </p:sp>
      <p:sp>
        <p:nvSpPr>
          <p:cNvPr id="6" name="TextBox 5"/>
          <p:cNvSpPr txBox="1"/>
          <p:nvPr/>
        </p:nvSpPr>
        <p:spPr>
          <a:xfrm>
            <a:off x="960120" y="1572768"/>
            <a:ext cx="9601200" cy="457200"/>
          </a:xfrm>
          <a:prstGeom prst="rect">
            <a:avLst/>
          </a:prstGeom>
          <a:noFill/>
        </p:spPr>
        <p:txBody>
          <a:bodyPr wrap="square" anchor="t" lIns="0" rIns="0" tIns="0" bIns="0">
            <a:spAutoFit/>
          </a:bodyPr>
          <a:lstStyle/>
          <a:p>
            <a:pPr algn="l">
              <a:lnSpc>
                <a:spcPct val="100000"/>
              </a:lnSpc>
              <a:spcAft>
                <a:spcPts val="0"/>
              </a:spcAft>
            </a:pPr>
            <a:r>
              <a:rPr sz="1300" b="0" i="1">
                <a:solidFill>
                  <a:srgbClr val="666280"/>
                </a:solidFill>
                <a:latin typeface="Segoe UI"/>
              </a:rPr>
              <a:t>Every number below comes from a real, re-runnable comparison in the Research Lab — none are estimates.</a:t>
            </a:r>
          </a:p>
        </p:txBody>
      </p:sp>
      <p:sp>
        <p:nvSpPr>
          <p:cNvPr id="7" name="TextBox 6"/>
          <p:cNvSpPr txBox="1"/>
          <p:nvPr/>
        </p:nvSpPr>
        <p:spPr>
          <a:xfrm>
            <a:off x="960120" y="2011680"/>
            <a:ext cx="2249424" cy="868680"/>
          </a:xfrm>
          <a:prstGeom prst="rect">
            <a:avLst/>
          </a:prstGeom>
          <a:noFill/>
        </p:spPr>
        <p:txBody>
          <a:bodyPr wrap="square" anchor="t" lIns="0" rIns="0" tIns="0" bIns="0">
            <a:spAutoFit/>
          </a:bodyPr>
          <a:lstStyle/>
          <a:p>
            <a:pPr algn="l">
              <a:lnSpc>
                <a:spcPct val="100000"/>
              </a:lnSpc>
              <a:spcAft>
                <a:spcPts val="0"/>
              </a:spcAft>
            </a:pPr>
            <a:r>
              <a:rPr sz="4400" b="0" i="0">
                <a:solidFill>
                  <a:srgbClr val="5B3DF6"/>
                </a:solidFill>
                <a:latin typeface="Georgia"/>
              </a:rPr>
              <a:t>100%</a:t>
            </a:r>
          </a:p>
        </p:txBody>
      </p:sp>
      <p:sp>
        <p:nvSpPr>
          <p:cNvPr id="8" name="TextBox 7"/>
          <p:cNvSpPr txBox="1"/>
          <p:nvPr/>
        </p:nvSpPr>
        <p:spPr>
          <a:xfrm>
            <a:off x="960120" y="2926080"/>
            <a:ext cx="2249424" cy="822960"/>
          </a:xfrm>
          <a:prstGeom prst="rect">
            <a:avLst/>
          </a:prstGeom>
          <a:noFill/>
        </p:spPr>
        <p:txBody>
          <a:bodyPr wrap="square" anchor="t" lIns="0" rIns="0" tIns="0" bIns="0">
            <a:spAutoFit/>
          </a:bodyPr>
          <a:lstStyle/>
          <a:p>
            <a:pPr algn="l">
              <a:lnSpc>
                <a:spcPct val="120000"/>
              </a:lnSpc>
              <a:spcAft>
                <a:spcPts val="0"/>
              </a:spcAft>
            </a:pPr>
            <a:r>
              <a:rPr sz="1050" b="0" i="0">
                <a:solidFill>
                  <a:srgbClr val="666280"/>
                </a:solidFill>
                <a:latin typeface="Segoe UI"/>
              </a:rPr>
              <a:t>agreement with expert judgment via CARE's adaptive routing — vs. 12.5% for a fixed single-agent baseline.</a:t>
            </a:r>
          </a:p>
        </p:txBody>
      </p:sp>
      <p:cxnSp>
        <p:nvCxnSpPr>
          <p:cNvPr id="9" name="Connector 8"/>
          <p:cNvCxnSpPr/>
          <p:nvPr/>
        </p:nvCxnSpPr>
        <p:spPr>
          <a:xfrm>
            <a:off x="3355848" y="2011680"/>
            <a:ext cx="0" cy="160020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483864" y="2011680"/>
            <a:ext cx="2249424" cy="868680"/>
          </a:xfrm>
          <a:prstGeom prst="rect">
            <a:avLst/>
          </a:prstGeom>
          <a:noFill/>
        </p:spPr>
        <p:txBody>
          <a:bodyPr wrap="square" anchor="t" lIns="0" rIns="0" tIns="0" bIns="0">
            <a:spAutoFit/>
          </a:bodyPr>
          <a:lstStyle/>
          <a:p>
            <a:pPr algn="l">
              <a:lnSpc>
                <a:spcPct val="100000"/>
              </a:lnSpc>
              <a:spcAft>
                <a:spcPts val="0"/>
              </a:spcAft>
            </a:pPr>
            <a:r>
              <a:rPr sz="4400" b="0" i="0">
                <a:solidFill>
                  <a:srgbClr val="0D9488"/>
                </a:solidFill>
                <a:latin typeface="Georgia"/>
              </a:rPr>
              <a:t>100%</a:t>
            </a:r>
          </a:p>
        </p:txBody>
      </p:sp>
      <p:sp>
        <p:nvSpPr>
          <p:cNvPr id="11" name="TextBox 10"/>
          <p:cNvSpPr txBox="1"/>
          <p:nvPr/>
        </p:nvSpPr>
        <p:spPr>
          <a:xfrm>
            <a:off x="3483864" y="2926080"/>
            <a:ext cx="2249424" cy="822960"/>
          </a:xfrm>
          <a:prstGeom prst="rect">
            <a:avLst/>
          </a:prstGeom>
          <a:noFill/>
        </p:spPr>
        <p:txBody>
          <a:bodyPr wrap="square" anchor="t" lIns="0" rIns="0" tIns="0" bIns="0">
            <a:spAutoFit/>
          </a:bodyPr>
          <a:lstStyle/>
          <a:p>
            <a:pPr algn="l">
              <a:lnSpc>
                <a:spcPct val="120000"/>
              </a:lnSpc>
              <a:spcAft>
                <a:spcPts val="0"/>
              </a:spcAft>
            </a:pPr>
            <a:r>
              <a:rPr sz="1050" b="0" i="0">
                <a:solidFill>
                  <a:srgbClr val="666280"/>
                </a:solidFill>
                <a:latin typeface="Segoe UI"/>
              </a:rPr>
              <a:t>accurate root-cause tracing through the knowledge graph — vs. 50% for vector-only retrieval.</a:t>
            </a:r>
          </a:p>
        </p:txBody>
      </p:sp>
      <p:cxnSp>
        <p:nvCxnSpPr>
          <p:cNvPr id="12" name="Connector 11"/>
          <p:cNvCxnSpPr/>
          <p:nvPr/>
        </p:nvCxnSpPr>
        <p:spPr>
          <a:xfrm>
            <a:off x="5879592" y="2011680"/>
            <a:ext cx="0" cy="160020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07608" y="2011680"/>
            <a:ext cx="2249424" cy="868680"/>
          </a:xfrm>
          <a:prstGeom prst="rect">
            <a:avLst/>
          </a:prstGeom>
          <a:noFill/>
        </p:spPr>
        <p:txBody>
          <a:bodyPr wrap="square" anchor="t" lIns="0" rIns="0" tIns="0" bIns="0">
            <a:spAutoFit/>
          </a:bodyPr>
          <a:lstStyle/>
          <a:p>
            <a:pPr algn="l">
              <a:lnSpc>
                <a:spcPct val="100000"/>
              </a:lnSpc>
              <a:spcAft>
                <a:spcPts val="0"/>
              </a:spcAft>
            </a:pPr>
            <a:r>
              <a:rPr sz="4400" b="0" i="0">
                <a:solidFill>
                  <a:srgbClr val="06B6D4"/>
                </a:solidFill>
                <a:latin typeface="Georgia"/>
              </a:rPr>
              <a:t>0</a:t>
            </a:r>
          </a:p>
        </p:txBody>
      </p:sp>
      <p:sp>
        <p:nvSpPr>
          <p:cNvPr id="14" name="TextBox 13"/>
          <p:cNvSpPr txBox="1"/>
          <p:nvPr/>
        </p:nvSpPr>
        <p:spPr>
          <a:xfrm>
            <a:off x="6007608" y="2926080"/>
            <a:ext cx="2249424" cy="822960"/>
          </a:xfrm>
          <a:prstGeom prst="rect">
            <a:avLst/>
          </a:prstGeom>
          <a:noFill/>
        </p:spPr>
        <p:txBody>
          <a:bodyPr wrap="square" anchor="t" lIns="0" rIns="0" tIns="0" bIns="0">
            <a:spAutoFit/>
          </a:bodyPr>
          <a:lstStyle/>
          <a:p>
            <a:pPr algn="l">
              <a:lnSpc>
                <a:spcPct val="120000"/>
              </a:lnSpc>
              <a:spcAft>
                <a:spcPts val="0"/>
              </a:spcAft>
            </a:pPr>
            <a:r>
              <a:rPr sz="1050" b="0" i="0">
                <a:solidFill>
                  <a:srgbClr val="666280"/>
                </a:solidFill>
                <a:latin typeface="Segoe UI"/>
              </a:rPr>
              <a:t>API keys required — every score-producing path has a deterministic offline default.</a:t>
            </a:r>
          </a:p>
        </p:txBody>
      </p:sp>
      <p:cxnSp>
        <p:nvCxnSpPr>
          <p:cNvPr id="15" name="Connector 14"/>
          <p:cNvCxnSpPr/>
          <p:nvPr/>
        </p:nvCxnSpPr>
        <p:spPr>
          <a:xfrm>
            <a:off x="8403336" y="2011680"/>
            <a:ext cx="0" cy="160020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531352" y="2011680"/>
            <a:ext cx="2249424" cy="868680"/>
          </a:xfrm>
          <a:prstGeom prst="rect">
            <a:avLst/>
          </a:prstGeom>
          <a:noFill/>
        </p:spPr>
        <p:txBody>
          <a:bodyPr wrap="square" anchor="t" lIns="0" rIns="0" tIns="0" bIns="0">
            <a:spAutoFit/>
          </a:bodyPr>
          <a:lstStyle/>
          <a:p>
            <a:pPr algn="l">
              <a:lnSpc>
                <a:spcPct val="100000"/>
              </a:lnSpc>
              <a:spcAft>
                <a:spcPts val="0"/>
              </a:spcAft>
            </a:pPr>
            <a:r>
              <a:rPr sz="4400" b="0" i="0">
                <a:solidFill>
                  <a:srgbClr val="9333EA"/>
                </a:solidFill>
                <a:latin typeface="Georgia"/>
              </a:rPr>
              <a:t>360+</a:t>
            </a:r>
          </a:p>
        </p:txBody>
      </p:sp>
      <p:sp>
        <p:nvSpPr>
          <p:cNvPr id="17" name="TextBox 16"/>
          <p:cNvSpPr txBox="1"/>
          <p:nvPr/>
        </p:nvSpPr>
        <p:spPr>
          <a:xfrm>
            <a:off x="8531352" y="2926080"/>
            <a:ext cx="2249424" cy="822960"/>
          </a:xfrm>
          <a:prstGeom prst="rect">
            <a:avLst/>
          </a:prstGeom>
          <a:noFill/>
        </p:spPr>
        <p:txBody>
          <a:bodyPr wrap="square" anchor="t" lIns="0" rIns="0" tIns="0" bIns="0">
            <a:spAutoFit/>
          </a:bodyPr>
          <a:lstStyle/>
          <a:p>
            <a:pPr algn="l">
              <a:lnSpc>
                <a:spcPct val="120000"/>
              </a:lnSpc>
              <a:spcAft>
                <a:spcPts val="0"/>
              </a:spcAft>
            </a:pPr>
            <a:r>
              <a:rPr sz="1050" b="0" i="0">
                <a:solidFill>
                  <a:srgbClr val="666280"/>
                </a:solidFill>
                <a:latin typeface="Segoe UI"/>
              </a:rPr>
              <a:t>automated tests across backend and frontend, with ruff / mypy / tsc / eslint clean.</a:t>
            </a:r>
          </a:p>
        </p:txBody>
      </p:sp>
      <p:cxnSp>
        <p:nvCxnSpPr>
          <p:cNvPr id="18" name="Connector 17"/>
          <p:cNvCxnSpPr/>
          <p:nvPr/>
        </p:nvCxnSpPr>
        <p:spPr>
          <a:xfrm>
            <a:off x="960120" y="3977639"/>
            <a:ext cx="10104120" cy="0"/>
          </a:xfrm>
          <a:prstGeom prst="line">
            <a:avLst/>
          </a:prstGeom>
          <a:ln w="9525">
            <a:solidFill>
              <a:srgbClr val="D4D1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0120" y="4206240"/>
            <a:ext cx="5486400" cy="274320"/>
          </a:xfrm>
          <a:prstGeom prst="rect">
            <a:avLst/>
          </a:prstGeom>
          <a:noFill/>
        </p:spPr>
        <p:txBody>
          <a:bodyPr wrap="square" anchor="t" lIns="0" rIns="0" tIns="0" bIns="0">
            <a:spAutoFit/>
          </a:bodyPr>
          <a:lstStyle/>
          <a:p>
            <a:pPr algn="l">
              <a:lnSpc>
                <a:spcPct val="100000"/>
              </a:lnSpc>
              <a:spcAft>
                <a:spcPts val="0"/>
              </a:spcAft>
            </a:pPr>
            <a:r>
              <a:rPr sz="1050" b="1" i="0" spc="120">
                <a:solidFill>
                  <a:srgbClr val="666280"/>
                </a:solidFill>
                <a:latin typeface="Segoe UI"/>
              </a:rPr>
              <a:t>PROJECT STATUS</a:t>
            </a:r>
          </a:p>
        </p:txBody>
      </p:sp>
      <p:sp>
        <p:nvSpPr>
          <p:cNvPr id="20" name="TextBox 19"/>
          <p:cNvSpPr txBox="1"/>
          <p:nvPr/>
        </p:nvSpPr>
        <p:spPr>
          <a:xfrm>
            <a:off x="960120" y="4727448"/>
            <a:ext cx="365760" cy="365760"/>
          </a:xfrm>
          <a:prstGeom prst="rect">
            <a:avLst/>
          </a:prstGeom>
          <a:noFill/>
        </p:spPr>
        <p:txBody>
          <a:bodyPr wrap="square" anchor="t" lIns="0" rIns="0" tIns="0" bIns="0">
            <a:spAutoFit/>
          </a:bodyPr>
          <a:lstStyle/>
          <a:p>
            <a:pPr algn="l">
              <a:lnSpc>
                <a:spcPct val="100000"/>
              </a:lnSpc>
              <a:spcAft>
                <a:spcPts val="0"/>
              </a:spcAft>
            </a:pPr>
            <a:r>
              <a:rPr sz="1300" b="1" i="0">
                <a:solidFill>
                  <a:srgbClr val="16A34A"/>
                </a:solidFill>
                <a:latin typeface="Segoe UI"/>
              </a:rPr>
              <a:t>✓</a:t>
            </a:r>
          </a:p>
        </p:txBody>
      </p:sp>
      <p:sp>
        <p:nvSpPr>
          <p:cNvPr id="21" name="TextBox 20"/>
          <p:cNvSpPr txBox="1"/>
          <p:nvPr/>
        </p:nvSpPr>
        <p:spPr>
          <a:xfrm>
            <a:off x="1325880" y="4727448"/>
            <a:ext cx="9692640" cy="365760"/>
          </a:xfrm>
          <a:prstGeom prst="rect">
            <a:avLst/>
          </a:prstGeom>
          <a:noFill/>
        </p:spPr>
        <p:txBody>
          <a:bodyPr wrap="square" anchor="t" lIns="0" rIns="0" tIns="0" bIns="0">
            <a:spAutoFit/>
          </a:bodyPr>
          <a:lstStyle/>
          <a:p>
            <a:pPr algn="l">
              <a:lnSpc>
                <a:spcPct val="100000"/>
              </a:lnSpc>
              <a:spcAft>
                <a:spcPts val="0"/>
              </a:spcAft>
            </a:pPr>
            <a:r>
              <a:rPr sz="1250" b="0" i="0">
                <a:solidFill>
                  <a:srgbClr val="14121F"/>
                </a:solidFill>
                <a:latin typeface="Segoe UI"/>
              </a:rPr>
              <a:t>Phase 0 — competition blueprint, architecture &amp; data model</a:t>
            </a:r>
          </a:p>
        </p:txBody>
      </p:sp>
      <p:cxnSp>
        <p:nvCxnSpPr>
          <p:cNvPr id="22" name="Connector 21"/>
          <p:cNvCxnSpPr/>
          <p:nvPr/>
        </p:nvCxnSpPr>
        <p:spPr>
          <a:xfrm>
            <a:off x="960120" y="512064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0120" y="5230368"/>
            <a:ext cx="365760" cy="365760"/>
          </a:xfrm>
          <a:prstGeom prst="rect">
            <a:avLst/>
          </a:prstGeom>
          <a:noFill/>
        </p:spPr>
        <p:txBody>
          <a:bodyPr wrap="square" anchor="t" lIns="0" rIns="0" tIns="0" bIns="0">
            <a:spAutoFit/>
          </a:bodyPr>
          <a:lstStyle/>
          <a:p>
            <a:pPr algn="l">
              <a:lnSpc>
                <a:spcPct val="100000"/>
              </a:lnSpc>
              <a:spcAft>
                <a:spcPts val="0"/>
              </a:spcAft>
            </a:pPr>
            <a:r>
              <a:rPr sz="1300" b="1" i="0">
                <a:solidFill>
                  <a:srgbClr val="16A34A"/>
                </a:solidFill>
                <a:latin typeface="Segoe UI"/>
              </a:rPr>
              <a:t>✓</a:t>
            </a:r>
          </a:p>
        </p:txBody>
      </p:sp>
      <p:sp>
        <p:nvSpPr>
          <p:cNvPr id="24" name="TextBox 23"/>
          <p:cNvSpPr txBox="1"/>
          <p:nvPr/>
        </p:nvSpPr>
        <p:spPr>
          <a:xfrm>
            <a:off x="1325880" y="5230368"/>
            <a:ext cx="9692640" cy="365760"/>
          </a:xfrm>
          <a:prstGeom prst="rect">
            <a:avLst/>
          </a:prstGeom>
          <a:noFill/>
        </p:spPr>
        <p:txBody>
          <a:bodyPr wrap="square" anchor="t" lIns="0" rIns="0" tIns="0" bIns="0">
            <a:spAutoFit/>
          </a:bodyPr>
          <a:lstStyle/>
          <a:p>
            <a:pPr algn="l">
              <a:lnSpc>
                <a:spcPct val="100000"/>
              </a:lnSpc>
              <a:spcAft>
                <a:spcPts val="0"/>
              </a:spcAft>
            </a:pPr>
            <a:r>
              <a:rPr sz="1250" b="0" i="0">
                <a:solidFill>
                  <a:srgbClr val="14121F"/>
                </a:solidFill>
                <a:latin typeface="Segoe UI"/>
              </a:rPr>
              <a:t>Phase 1 — working vertical slice: register → onboard → dashboard → Career Twin</a:t>
            </a:r>
          </a:p>
        </p:txBody>
      </p:sp>
      <p:cxnSp>
        <p:nvCxnSpPr>
          <p:cNvPr id="25" name="Connector 24"/>
          <p:cNvCxnSpPr/>
          <p:nvPr/>
        </p:nvCxnSpPr>
        <p:spPr>
          <a:xfrm>
            <a:off x="960120" y="562356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0120" y="5733288"/>
            <a:ext cx="365760" cy="365760"/>
          </a:xfrm>
          <a:prstGeom prst="rect">
            <a:avLst/>
          </a:prstGeom>
          <a:noFill/>
        </p:spPr>
        <p:txBody>
          <a:bodyPr wrap="square" anchor="t" lIns="0" rIns="0" tIns="0" bIns="0">
            <a:spAutoFit/>
          </a:bodyPr>
          <a:lstStyle/>
          <a:p>
            <a:pPr algn="l">
              <a:lnSpc>
                <a:spcPct val="100000"/>
              </a:lnSpc>
              <a:spcAft>
                <a:spcPts val="0"/>
              </a:spcAft>
            </a:pPr>
            <a:r>
              <a:rPr sz="1300" b="1" i="0">
                <a:solidFill>
                  <a:srgbClr val="16A34A"/>
                </a:solidFill>
                <a:latin typeface="Segoe UI"/>
              </a:rPr>
              <a:t>✓</a:t>
            </a:r>
          </a:p>
        </p:txBody>
      </p:sp>
      <p:sp>
        <p:nvSpPr>
          <p:cNvPr id="27" name="TextBox 26"/>
          <p:cNvSpPr txBox="1"/>
          <p:nvPr/>
        </p:nvSpPr>
        <p:spPr>
          <a:xfrm>
            <a:off x="1325880" y="5733288"/>
            <a:ext cx="9692640" cy="365760"/>
          </a:xfrm>
          <a:prstGeom prst="rect">
            <a:avLst/>
          </a:prstGeom>
          <a:noFill/>
        </p:spPr>
        <p:txBody>
          <a:bodyPr wrap="square" anchor="t" lIns="0" rIns="0" tIns="0" bIns="0">
            <a:spAutoFit/>
          </a:bodyPr>
          <a:lstStyle/>
          <a:p>
            <a:pPr algn="l">
              <a:lnSpc>
                <a:spcPct val="100000"/>
              </a:lnSpc>
              <a:spcAft>
                <a:spcPts val="0"/>
              </a:spcAft>
            </a:pPr>
            <a:r>
              <a:rPr sz="1250" b="0" i="0">
                <a:solidFill>
                  <a:srgbClr val="14121F"/>
                </a:solidFill>
                <a:latin typeface="Segoe UI"/>
              </a:rPr>
              <a:t>Phase 2 — full AI intelligence core: CARE, GraphRAG, 10 agents, Trust Center</a:t>
            </a:r>
          </a:p>
        </p:txBody>
      </p:sp>
      <p:sp>
        <p:nvSpPr>
          <p:cNvPr id="28" name="TextBox 27"/>
          <p:cNvSpPr txBox="1"/>
          <p:nvPr/>
        </p:nvSpPr>
        <p:spPr>
          <a:xfrm>
            <a:off x="960120" y="6473952"/>
            <a:ext cx="5486400" cy="274320"/>
          </a:xfrm>
          <a:prstGeom prst="rect">
            <a:avLst/>
          </a:prstGeom>
          <a:noFill/>
        </p:spPr>
        <p:txBody>
          <a:bodyPr wrap="square" anchor="t" lIns="0" rIns="0" tIns="0" bIns="0">
            <a:spAutoFit/>
          </a:bodyPr>
          <a:lstStyle/>
          <a:p>
            <a:pPr algn="l">
              <a:lnSpc>
                <a:spcPct val="100000"/>
              </a:lnSpc>
              <a:spcAft>
                <a:spcPts val="0"/>
              </a:spcAft>
            </a:pPr>
            <a:r>
              <a:rPr sz="900" b="0" i="0" spc="120">
                <a:solidFill>
                  <a:srgbClr val="666280"/>
                </a:solidFill>
                <a:latin typeface="Segoe UI"/>
              </a:rPr>
              <a:t>CAREERPILOT AI</a:t>
            </a:r>
          </a:p>
        </p:txBody>
      </p:sp>
      <p:sp>
        <p:nvSpPr>
          <p:cNvPr id="29" name="TextBox 28"/>
          <p:cNvSpPr txBox="1"/>
          <p:nvPr/>
        </p:nvSpPr>
        <p:spPr>
          <a:xfrm>
            <a:off x="10332720" y="6473952"/>
            <a:ext cx="1234440" cy="274320"/>
          </a:xfrm>
          <a:prstGeom prst="rect">
            <a:avLst/>
          </a:prstGeom>
          <a:noFill/>
        </p:spPr>
        <p:txBody>
          <a:bodyPr wrap="square" anchor="t" lIns="0" rIns="0" tIns="0" bIns="0">
            <a:spAutoFit/>
          </a:bodyPr>
          <a:lstStyle/>
          <a:p>
            <a:pPr algn="r">
              <a:lnSpc>
                <a:spcPct val="100000"/>
              </a:lnSpc>
              <a:spcAft>
                <a:spcPts val="0"/>
              </a:spcAft>
            </a:pPr>
            <a:r>
              <a:rPr sz="900" b="1" i="0">
                <a:solidFill>
                  <a:srgbClr val="14121F"/>
                </a:solidFill>
                <a:latin typeface="Segoe UI"/>
              </a:rPr>
              <a:t>08</a:t>
            </a:r>
            <a:r>
              <a:rPr sz="900" b="0" i="0">
                <a:solidFill>
                  <a:srgbClr val="666280"/>
                </a:solidFill>
                <a:latin typeface="Segoe UI"/>
              </a:rPr>
              <a:t> / 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20320" cy="5806440"/>
          </a:xfrm>
          <a:prstGeom prst="rect">
            <a:avLst/>
          </a:prstGeom>
          <a:solidFill>
            <a:srgbClr val="5B3D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566928"/>
            <a:ext cx="8229600" cy="292608"/>
          </a:xfrm>
          <a:prstGeom prst="rect">
            <a:avLst/>
          </a:prstGeom>
          <a:noFill/>
        </p:spPr>
        <p:txBody>
          <a:bodyPr wrap="square" anchor="t" lIns="0" rIns="0" tIns="0" bIns="0">
            <a:spAutoFit/>
          </a:bodyPr>
          <a:lstStyle/>
          <a:p>
            <a:pPr algn="l">
              <a:lnSpc>
                <a:spcPct val="100000"/>
              </a:lnSpc>
              <a:spcAft>
                <a:spcPts val="0"/>
              </a:spcAft>
            </a:pPr>
            <a:r>
              <a:rPr sz="1100" b="1" i="0" spc="140">
                <a:solidFill>
                  <a:srgbClr val="5B3DF6"/>
                </a:solidFill>
                <a:latin typeface="Segoe UI"/>
              </a:rPr>
              <a:t>09</a:t>
            </a:r>
            <a:r>
              <a:rPr sz="1100" b="0" i="0" spc="140">
                <a:solidFill>
                  <a:srgbClr val="5B3DF6"/>
                </a:solidFill>
                <a:latin typeface="Segoe UI"/>
              </a:rPr>
              <a:t>   </a:t>
            </a:r>
            <a:r>
              <a:rPr sz="1100" b="1" i="0" spc="140">
                <a:solidFill>
                  <a:srgbClr val="666280"/>
                </a:solidFill>
                <a:latin typeface="Segoe UI"/>
              </a:rPr>
              <a:t>GET STARTED</a:t>
            </a:r>
          </a:p>
        </p:txBody>
      </p:sp>
      <p:sp>
        <p:nvSpPr>
          <p:cNvPr id="5" name="TextBox 4"/>
          <p:cNvSpPr txBox="1"/>
          <p:nvPr/>
        </p:nvSpPr>
        <p:spPr>
          <a:xfrm>
            <a:off x="960120" y="960120"/>
            <a:ext cx="10698480" cy="914400"/>
          </a:xfrm>
          <a:prstGeom prst="rect">
            <a:avLst/>
          </a:prstGeom>
          <a:noFill/>
        </p:spPr>
        <p:txBody>
          <a:bodyPr wrap="square" anchor="t" lIns="0" rIns="0" tIns="0" bIns="0">
            <a:spAutoFit/>
          </a:bodyPr>
          <a:lstStyle/>
          <a:p>
            <a:pPr algn="l">
              <a:lnSpc>
                <a:spcPct val="105000"/>
              </a:lnSpc>
              <a:spcAft>
                <a:spcPts val="0"/>
              </a:spcAft>
            </a:pPr>
            <a:r>
              <a:rPr sz="3000" b="0" i="0">
                <a:solidFill>
                  <a:srgbClr val="14121F"/>
                </a:solidFill>
                <a:latin typeface="Georgia"/>
              </a:rPr>
              <a:t>Everything in this deck runs in one command.</a:t>
            </a:r>
          </a:p>
        </p:txBody>
      </p:sp>
      <p:sp>
        <p:nvSpPr>
          <p:cNvPr id="6" name="Rectangle 5"/>
          <p:cNvSpPr/>
          <p:nvPr/>
        </p:nvSpPr>
        <p:spPr>
          <a:xfrm>
            <a:off x="960120" y="1691640"/>
            <a:ext cx="6583680" cy="19050"/>
          </a:xfrm>
          <a:prstGeom prst="rect">
            <a:avLst/>
          </a:prstGeom>
          <a:solidFill>
            <a:srgbClr val="D4D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92808"/>
            <a:ext cx="6400800" cy="457200"/>
          </a:xfrm>
          <a:prstGeom prst="rect">
            <a:avLst/>
          </a:prstGeom>
          <a:noFill/>
        </p:spPr>
        <p:txBody>
          <a:bodyPr wrap="square" anchor="t" lIns="0" rIns="0" tIns="0" bIns="0">
            <a:spAutoFit/>
          </a:bodyPr>
          <a:lstStyle/>
          <a:p>
            <a:pPr algn="l">
              <a:lnSpc>
                <a:spcPct val="100000"/>
              </a:lnSpc>
              <a:spcAft>
                <a:spcPts val="0"/>
              </a:spcAft>
            </a:pPr>
            <a:r>
              <a:rPr sz="1500" b="1" i="0">
                <a:solidFill>
                  <a:srgbClr val="0D9488"/>
                </a:solidFill>
                <a:latin typeface="Consolas"/>
              </a:rPr>
              <a:t>$ </a:t>
            </a:r>
            <a:r>
              <a:rPr sz="1500" b="1" i="0">
                <a:solidFill>
                  <a:srgbClr val="14121F"/>
                </a:solidFill>
                <a:latin typeface="Consolas"/>
              </a:rPr>
              <a:t>docker compose up -d --build</a:t>
            </a:r>
          </a:p>
        </p:txBody>
      </p:sp>
      <p:sp>
        <p:nvSpPr>
          <p:cNvPr id="8" name="Rectangle 7"/>
          <p:cNvSpPr/>
          <p:nvPr/>
        </p:nvSpPr>
        <p:spPr>
          <a:xfrm>
            <a:off x="960120" y="2468880"/>
            <a:ext cx="6583680" cy="19050"/>
          </a:xfrm>
          <a:prstGeom prst="rect">
            <a:avLst/>
          </a:prstGeom>
          <a:solidFill>
            <a:srgbClr val="D4D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34640"/>
            <a:ext cx="1554480" cy="320040"/>
          </a:xfrm>
          <a:prstGeom prst="rect">
            <a:avLst/>
          </a:prstGeom>
          <a:noFill/>
        </p:spPr>
        <p:txBody>
          <a:bodyPr wrap="square" anchor="t" lIns="0" rIns="0" tIns="0" bIns="0">
            <a:spAutoFit/>
          </a:bodyPr>
          <a:lstStyle/>
          <a:p>
            <a:pPr algn="l">
              <a:lnSpc>
                <a:spcPct val="100000"/>
              </a:lnSpc>
              <a:spcAft>
                <a:spcPts val="0"/>
              </a:spcAft>
            </a:pPr>
            <a:r>
              <a:rPr sz="1050" b="1" i="0" spc="80">
                <a:solidFill>
                  <a:srgbClr val="666280"/>
                </a:solidFill>
                <a:latin typeface="Segoe UI"/>
              </a:rPr>
              <a:t>REPOSITORY</a:t>
            </a:r>
          </a:p>
        </p:txBody>
      </p:sp>
      <p:sp>
        <p:nvSpPr>
          <p:cNvPr id="10" name="TextBox 9"/>
          <p:cNvSpPr txBox="1"/>
          <p:nvPr/>
        </p:nvSpPr>
        <p:spPr>
          <a:xfrm>
            <a:off x="2514600" y="2834640"/>
            <a:ext cx="7315200" cy="320040"/>
          </a:xfrm>
          <a:prstGeom prst="rect">
            <a:avLst/>
          </a:prstGeom>
          <a:noFill/>
        </p:spPr>
        <p:txBody>
          <a:bodyPr wrap="square" anchor="t" lIns="0" rIns="0" tIns="0" bIns="0">
            <a:spAutoFit/>
          </a:bodyPr>
          <a:lstStyle/>
          <a:p>
            <a:pPr algn="l">
              <a:lnSpc>
                <a:spcPct val="100000"/>
              </a:lnSpc>
              <a:spcAft>
                <a:spcPts val="0"/>
              </a:spcAft>
            </a:pPr>
            <a:r>
              <a:rPr sz="1300" b="0" i="0">
                <a:solidFill>
                  <a:srgbClr val="14121F"/>
                </a:solidFill>
                <a:latin typeface="Segoe UI"/>
              </a:rPr>
              <a:t>github.com/karthikeya020/careerpilot-ai</a:t>
            </a:r>
          </a:p>
        </p:txBody>
      </p:sp>
      <p:sp>
        <p:nvSpPr>
          <p:cNvPr id="11" name="TextBox 10"/>
          <p:cNvSpPr txBox="1"/>
          <p:nvPr/>
        </p:nvSpPr>
        <p:spPr>
          <a:xfrm>
            <a:off x="960120" y="3273552"/>
            <a:ext cx="1554480" cy="320040"/>
          </a:xfrm>
          <a:prstGeom prst="rect">
            <a:avLst/>
          </a:prstGeom>
          <a:noFill/>
        </p:spPr>
        <p:txBody>
          <a:bodyPr wrap="square" anchor="t" lIns="0" rIns="0" tIns="0" bIns="0">
            <a:spAutoFit/>
          </a:bodyPr>
          <a:lstStyle/>
          <a:p>
            <a:pPr algn="l">
              <a:lnSpc>
                <a:spcPct val="100000"/>
              </a:lnSpc>
              <a:spcAft>
                <a:spcPts val="0"/>
              </a:spcAft>
            </a:pPr>
            <a:r>
              <a:rPr sz="1050" b="1" i="0" spc="80">
                <a:solidFill>
                  <a:srgbClr val="666280"/>
                </a:solidFill>
                <a:latin typeface="Segoe UI"/>
              </a:rPr>
              <a:t>DEMO LOGIN</a:t>
            </a:r>
          </a:p>
        </p:txBody>
      </p:sp>
      <p:sp>
        <p:nvSpPr>
          <p:cNvPr id="12" name="TextBox 11"/>
          <p:cNvSpPr txBox="1"/>
          <p:nvPr/>
        </p:nvSpPr>
        <p:spPr>
          <a:xfrm>
            <a:off x="2514600" y="3273552"/>
            <a:ext cx="7315200" cy="320040"/>
          </a:xfrm>
          <a:prstGeom prst="rect">
            <a:avLst/>
          </a:prstGeom>
          <a:noFill/>
        </p:spPr>
        <p:txBody>
          <a:bodyPr wrap="square" anchor="t" lIns="0" rIns="0" tIns="0" bIns="0">
            <a:spAutoFit/>
          </a:bodyPr>
          <a:lstStyle/>
          <a:p>
            <a:pPr algn="l">
              <a:lnSpc>
                <a:spcPct val="100000"/>
              </a:lnSpc>
              <a:spcAft>
                <a:spcPts val="0"/>
              </a:spcAft>
            </a:pPr>
            <a:r>
              <a:rPr sz="1300" b="0" i="0">
                <a:solidFill>
                  <a:srgbClr val="14121F"/>
                </a:solidFill>
                <a:latin typeface="Segoe UI"/>
              </a:rPr>
              <a:t>demo.student@careerpilot.ai  /  DemoPass!2026</a:t>
            </a:r>
          </a:p>
        </p:txBody>
      </p:sp>
      <p:sp>
        <p:nvSpPr>
          <p:cNvPr id="13" name="TextBox 12"/>
          <p:cNvSpPr txBox="1"/>
          <p:nvPr/>
        </p:nvSpPr>
        <p:spPr>
          <a:xfrm>
            <a:off x="960120" y="3712464"/>
            <a:ext cx="1554480" cy="320040"/>
          </a:xfrm>
          <a:prstGeom prst="rect">
            <a:avLst/>
          </a:prstGeom>
          <a:noFill/>
        </p:spPr>
        <p:txBody>
          <a:bodyPr wrap="square" anchor="t" lIns="0" rIns="0" tIns="0" bIns="0">
            <a:spAutoFit/>
          </a:bodyPr>
          <a:lstStyle/>
          <a:p>
            <a:pPr algn="l">
              <a:lnSpc>
                <a:spcPct val="100000"/>
              </a:lnSpc>
              <a:spcAft>
                <a:spcPts val="0"/>
              </a:spcAft>
            </a:pPr>
            <a:r>
              <a:rPr sz="1050" b="1" i="0" spc="80">
                <a:solidFill>
                  <a:srgbClr val="666280"/>
                </a:solidFill>
                <a:latin typeface="Segoe UI"/>
              </a:rPr>
              <a:t>LOCAL URL</a:t>
            </a:r>
          </a:p>
        </p:txBody>
      </p:sp>
      <p:sp>
        <p:nvSpPr>
          <p:cNvPr id="14" name="TextBox 13"/>
          <p:cNvSpPr txBox="1"/>
          <p:nvPr/>
        </p:nvSpPr>
        <p:spPr>
          <a:xfrm>
            <a:off x="2514600" y="3712464"/>
            <a:ext cx="7315200" cy="320040"/>
          </a:xfrm>
          <a:prstGeom prst="rect">
            <a:avLst/>
          </a:prstGeom>
          <a:noFill/>
        </p:spPr>
        <p:txBody>
          <a:bodyPr wrap="square" anchor="t" lIns="0" rIns="0" tIns="0" bIns="0">
            <a:spAutoFit/>
          </a:bodyPr>
          <a:lstStyle/>
          <a:p>
            <a:pPr algn="l">
              <a:lnSpc>
                <a:spcPct val="100000"/>
              </a:lnSpc>
              <a:spcAft>
                <a:spcPts val="0"/>
              </a:spcAft>
            </a:pPr>
            <a:r>
              <a:rPr sz="1300" b="0" i="0">
                <a:solidFill>
                  <a:srgbClr val="14121F"/>
                </a:solidFill>
                <a:latin typeface="Segoe UI"/>
              </a:rPr>
              <a:t>http://localhost:3000/login</a:t>
            </a:r>
          </a:p>
        </p:txBody>
      </p:sp>
      <p:cxnSp>
        <p:nvCxnSpPr>
          <p:cNvPr id="15" name="Connector 14"/>
          <p:cNvCxnSpPr/>
          <p:nvPr/>
        </p:nvCxnSpPr>
        <p:spPr>
          <a:xfrm>
            <a:off x="960120" y="4434840"/>
            <a:ext cx="10104120" cy="0"/>
          </a:xfrm>
          <a:prstGeom prst="line">
            <a:avLst/>
          </a:prstGeom>
          <a:ln w="9525">
            <a:solidFill>
              <a:srgbClr val="E4E2EE"/>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0120" y="4617720"/>
            <a:ext cx="5486400" cy="274320"/>
          </a:xfrm>
          <a:prstGeom prst="rect">
            <a:avLst/>
          </a:prstGeom>
          <a:noFill/>
        </p:spPr>
        <p:txBody>
          <a:bodyPr wrap="square" anchor="t" lIns="0" rIns="0" tIns="0" bIns="0">
            <a:spAutoFit/>
          </a:bodyPr>
          <a:lstStyle/>
          <a:p>
            <a:pPr algn="l">
              <a:lnSpc>
                <a:spcPct val="100000"/>
              </a:lnSpc>
              <a:spcAft>
                <a:spcPts val="0"/>
              </a:spcAft>
            </a:pPr>
            <a:r>
              <a:rPr sz="1050" b="1" i="0" spc="120">
                <a:solidFill>
                  <a:srgbClr val="666280"/>
                </a:solidFill>
                <a:latin typeface="Segoe UI"/>
              </a:rPr>
              <a:t>IN SUMMARY</a:t>
            </a:r>
          </a:p>
        </p:txBody>
      </p:sp>
      <p:sp>
        <p:nvSpPr>
          <p:cNvPr id="17" name="TextBox 16"/>
          <p:cNvSpPr txBox="1"/>
          <p:nvPr/>
        </p:nvSpPr>
        <p:spPr>
          <a:xfrm>
            <a:off x="960120" y="4937760"/>
            <a:ext cx="10104120" cy="1005840"/>
          </a:xfrm>
          <a:prstGeom prst="rect">
            <a:avLst/>
          </a:prstGeom>
          <a:noFill/>
        </p:spPr>
        <p:txBody>
          <a:bodyPr wrap="square" anchor="t" lIns="0" rIns="0" tIns="0" bIns="0">
            <a:spAutoFit/>
          </a:bodyPr>
          <a:lstStyle/>
          <a:p>
            <a:pPr algn="l">
              <a:lnSpc>
                <a:spcPct val="135000"/>
              </a:lnSpc>
              <a:spcAft>
                <a:spcPts val="0"/>
              </a:spcAft>
            </a:pPr>
            <a:r>
              <a:rPr sz="1250" b="0" i="0">
                <a:solidFill>
                  <a:srgbClr val="14121F"/>
                </a:solidFill>
                <a:latin typeface="Segoe UI"/>
              </a:rPr>
              <a:t>CareerPilot AI is a working Career OS, not a prototype slide deck: a persistent Career Twin scores every student from real evidence, GraphRAG traces each weakness to its root cause, and the CARE Engine decides how much AI reasoning that decision deserves. Practice, resume, job search, and interviews all write back to the same Twin — built through Phase 2, running fully offline, end to end.</a:t>
            </a:r>
          </a:p>
        </p:txBody>
      </p:sp>
      <p:sp>
        <p:nvSpPr>
          <p:cNvPr id="18" name="TextBox 17"/>
          <p:cNvSpPr txBox="1"/>
          <p:nvPr/>
        </p:nvSpPr>
        <p:spPr>
          <a:xfrm>
            <a:off x="960120" y="6172200"/>
            <a:ext cx="10104120" cy="457200"/>
          </a:xfrm>
          <a:prstGeom prst="rect">
            <a:avLst/>
          </a:prstGeom>
          <a:noFill/>
        </p:spPr>
        <p:txBody>
          <a:bodyPr wrap="square" anchor="t" lIns="0" rIns="0" tIns="0" bIns="0">
            <a:spAutoFit/>
          </a:bodyPr>
          <a:lstStyle/>
          <a:p>
            <a:pPr algn="l">
              <a:lnSpc>
                <a:spcPct val="100000"/>
              </a:lnSpc>
              <a:spcAft>
                <a:spcPts val="0"/>
              </a:spcAft>
            </a:pPr>
            <a:r>
              <a:rPr sz="1400" b="0" i="1">
                <a:solidFill>
                  <a:srgbClr val="5B3DF6"/>
                </a:solidFill>
                <a:latin typeface="Georgia"/>
              </a:rPr>
              <a:t>No random scores. Every AI output is evidence, confidence, and a decision trace.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